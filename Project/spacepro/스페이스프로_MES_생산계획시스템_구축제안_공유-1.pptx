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94" r:id="rId3"/>
    <p:sldId id="298" r:id="rId4"/>
    <p:sldId id="302" r:id="rId5"/>
    <p:sldId id="303" r:id="rId6"/>
    <p:sldId id="299" r:id="rId7"/>
    <p:sldId id="304" r:id="rId8"/>
    <p:sldId id="305" r:id="rId9"/>
    <p:sldId id="306" r:id="rId10"/>
    <p:sldId id="295" r:id="rId11"/>
    <p:sldId id="28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5AB4"/>
    <a:srgbClr val="1E247B"/>
    <a:srgbClr val="0F12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06" autoAdjust="0"/>
    <p:restoredTop sz="94667" autoAdjust="0"/>
  </p:normalViewPr>
  <p:slideViewPr>
    <p:cSldViewPr snapToGrid="0">
      <p:cViewPr varScale="1">
        <p:scale>
          <a:sx n="75" d="100"/>
          <a:sy n="75" d="100"/>
        </p:scale>
        <p:origin x="1134" y="2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CCEED-1445-421E-BEAD-655ECD469402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E9F7D-448D-45E8-B80E-D68C4B58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30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9F7D-448D-45E8-B80E-D68C4B5814C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625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31D27-693E-CB8D-2F40-EF1E787B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EA2DE5-5852-DFA6-E653-172699DE2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A6100F-73C6-DCDB-7882-A14138E8B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1AAE51-6C6F-6DF2-1E06-5BDD4F4DC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9F7D-448D-45E8-B80E-D68C4B5814C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793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9F7D-448D-45E8-B80E-D68C4B5814C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53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스페이스프로 - 나무위키 스페이스프로">
            <a:extLst>
              <a:ext uri="{FF2B5EF4-FFF2-40B4-BE49-F238E27FC236}">
                <a16:creationId xmlns:a16="http://schemas.microsoft.com/office/drawing/2014/main" id="{96FED169-2895-9FAE-FF4F-AFD9CDC6F2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54" y="6453144"/>
            <a:ext cx="1219430" cy="26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E6531CC-40F0-4520-CBD0-2736E6D530F6}"/>
              </a:ext>
            </a:extLst>
          </p:cNvPr>
          <p:cNvGrpSpPr/>
          <p:nvPr userDrawn="1"/>
        </p:nvGrpSpPr>
        <p:grpSpPr>
          <a:xfrm>
            <a:off x="10587606" y="6432691"/>
            <a:ext cx="1415065" cy="321698"/>
            <a:chOff x="6676679" y="5700741"/>
            <a:chExt cx="1415065" cy="321698"/>
          </a:xfrm>
        </p:grpSpPr>
        <p:pic>
          <p:nvPicPr>
            <p:cNvPr id="9" name="그림 8" descr="폰트, 그래픽, 스크린샷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4E6F9BA-1F6E-DB94-34D5-7A3298B00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6679" y="5700741"/>
              <a:ext cx="410235" cy="30630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EFFF77-58EF-8011-B582-B7ED2B1C9072}"/>
                </a:ext>
              </a:extLst>
            </p:cNvPr>
            <p:cNvSpPr txBox="1"/>
            <p:nvPr/>
          </p:nvSpPr>
          <p:spPr>
            <a:xfrm>
              <a:off x="7009396" y="5776218"/>
              <a:ext cx="10823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바이너리소프트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3D4871-DBE8-E760-DDE7-FDFA3CA639D3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3E5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FCC41D5-9239-D810-BF47-BC7CB54C9B1B}"/>
              </a:ext>
            </a:extLst>
          </p:cNvPr>
          <p:cNvCxnSpPr/>
          <p:nvPr userDrawn="1"/>
        </p:nvCxnSpPr>
        <p:spPr>
          <a:xfrm>
            <a:off x="166687" y="6315075"/>
            <a:ext cx="118586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825F19E-DA10-4969-506F-09502AF5F135}"/>
              </a:ext>
            </a:extLst>
          </p:cNvPr>
          <p:cNvCxnSpPr>
            <a:cxnSpLocks/>
          </p:cNvCxnSpPr>
          <p:nvPr userDrawn="1"/>
        </p:nvCxnSpPr>
        <p:spPr>
          <a:xfrm>
            <a:off x="0" y="556141"/>
            <a:ext cx="12192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947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스페이스프로 - 나무위키 스페이스프로">
            <a:extLst>
              <a:ext uri="{FF2B5EF4-FFF2-40B4-BE49-F238E27FC236}">
                <a16:creationId xmlns:a16="http://schemas.microsoft.com/office/drawing/2014/main" id="{96FED169-2895-9FAE-FF4F-AFD9CDC6F2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54" y="6453144"/>
            <a:ext cx="1219430" cy="26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E6531CC-40F0-4520-CBD0-2736E6D530F6}"/>
              </a:ext>
            </a:extLst>
          </p:cNvPr>
          <p:cNvGrpSpPr/>
          <p:nvPr userDrawn="1"/>
        </p:nvGrpSpPr>
        <p:grpSpPr>
          <a:xfrm>
            <a:off x="10587606" y="6432691"/>
            <a:ext cx="1415065" cy="321698"/>
            <a:chOff x="6676679" y="5700741"/>
            <a:chExt cx="1415065" cy="321698"/>
          </a:xfrm>
        </p:grpSpPr>
        <p:pic>
          <p:nvPicPr>
            <p:cNvPr id="9" name="그림 8" descr="폰트, 그래픽, 스크린샷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4E6F9BA-1F6E-DB94-34D5-7A3298B00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6679" y="5700741"/>
              <a:ext cx="410235" cy="30630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EFFF77-58EF-8011-B582-B7ED2B1C9072}"/>
                </a:ext>
              </a:extLst>
            </p:cNvPr>
            <p:cNvSpPr txBox="1"/>
            <p:nvPr/>
          </p:nvSpPr>
          <p:spPr>
            <a:xfrm>
              <a:off x="7009396" y="5776218"/>
              <a:ext cx="10823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바이너리소프트</a:t>
              </a:r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FCC41D5-9239-D810-BF47-BC7CB54C9B1B}"/>
              </a:ext>
            </a:extLst>
          </p:cNvPr>
          <p:cNvCxnSpPr/>
          <p:nvPr userDrawn="1"/>
        </p:nvCxnSpPr>
        <p:spPr>
          <a:xfrm>
            <a:off x="166687" y="6315075"/>
            <a:ext cx="118586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107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BC8184-2B07-0D4A-0504-36AD50F8B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788EEB-E38E-C954-6111-A2CD7E1C1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3B78AD-D857-05D8-DFF6-FB095CBD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2625-8CB5-4BFB-9156-FB1F9D0B0BB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2772FE-8A11-F542-8C98-65685E513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327983-1F14-ED75-0738-B97437A9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E4952-AF0B-449E-9651-568B3FFAF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661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A95DE-2763-D042-CF05-4811EEAD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237CF1-618A-F255-81D8-F321E13E2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FB1C0E-8638-0D32-6A22-3357F836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2625-8CB5-4BFB-9156-FB1F9D0B0BB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FC44F-1D03-3754-E002-E57F65AC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68935B-5FA3-EE16-B07C-D6C225BA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E4952-AF0B-449E-9651-568B3FFAF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541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5CE52-C8EA-C5CA-4B2C-8E2E7B33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2D53EF-76E7-EFB5-9B9F-DC68CC6C8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D82D54-B72B-762D-520F-92134E5C0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904E08-80A1-0D28-9B19-972308DE0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2625-8CB5-4BFB-9156-FB1F9D0B0BB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B02D39-CC2B-36F6-342E-FDFAFE0B7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E139E2-F31D-FF75-B5F4-6D71E2E03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E4952-AF0B-449E-9651-568B3FFAF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76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56A21-1034-0BA1-FDDE-A5DA0B5A2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D01D56-C7CC-7DC3-631C-BBF34C5FB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87FB97-863A-F198-5A08-6B384971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F0865D-2ADC-5FC2-CACC-157AA68C4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36D40A-C150-2FCF-F80F-75294FCD1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096276-F381-C145-778A-1C8DBAC16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2625-8CB5-4BFB-9156-FB1F9D0B0BB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B60F7A-1EFF-2BDE-D8C6-ED27B70A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C87D80-70F5-0918-43F7-76EF5791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E4952-AF0B-449E-9651-568B3FFAF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41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06EAA-614F-6BC1-5059-4A2103CD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5AF50D7-9A7A-FB9D-77FC-4696A5E18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2625-8CB5-4BFB-9156-FB1F9D0B0BB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BCECF3-BEAC-FAFC-48E1-7D9FE2A6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C8A2C9-87C6-ACED-496E-124B2F90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E4952-AF0B-449E-9651-568B3FFAF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85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20CC2A-AD15-96F0-6FF4-C610EBDA5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2625-8CB5-4BFB-9156-FB1F9D0B0BB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BA8AD1-1093-9B56-5853-026A4D2C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9B0023-101C-7031-38AB-AAAF3053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E4952-AF0B-449E-9651-568B3FFAF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849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CECD6-45CD-139C-C207-13A69C4AE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62740C-90E8-6F83-75EA-38F3C1364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CBB07C-7B05-647E-9550-02EC7AC5C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23C82D-0767-F6F1-07D9-318908A73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2625-8CB5-4BFB-9156-FB1F9D0B0BB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E60D4C-BEE3-03B1-5391-D2F308823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99A028-878B-9F8A-C5D8-64667CFA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E4952-AF0B-449E-9651-568B3FFAF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561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B7635-840E-B654-BFD8-FAA67A332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1E50C50-EF7A-A615-36E0-8021B2FFC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C785C8-2F8A-287A-7EA6-AB873338A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7EA0F9-FB79-4DA0-6BAD-6FA4F955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2625-8CB5-4BFB-9156-FB1F9D0B0BB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F14979-8209-3684-1B70-0A965FAD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79C012-FC21-DFAA-6708-ECFADAD3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E4952-AF0B-449E-9651-568B3FFAF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739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B4EDE-89B1-6EF7-C8B9-927C6759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9C313C-416B-2E89-8B9E-DAE2DB2B0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1FB937-CD86-EF07-FBFF-6D766A87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2625-8CB5-4BFB-9156-FB1F9D0B0BB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4B5CF8-E3C2-352E-E90A-D9614BB9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7AC1E2-A6A3-6291-64F3-0B13422E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E4952-AF0B-449E-9651-568B3FFAF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762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3D199D-760F-4072-5018-BE77000F7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3A35B3-0B95-0B7E-6A05-C9C37FF80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EA7F98-4477-4DE4-76AD-07609FE1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2625-8CB5-4BFB-9156-FB1F9D0B0BB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9968D4-05AB-B20C-388E-5B7458D1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D5CD1F-B0DE-2A62-2B34-44DF516DE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E4952-AF0B-449E-9651-568B3FFAF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241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99815B-DB53-64E4-25C5-FA0F63A0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9D2C9A-CF45-D841-DE67-0615F7C19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AF86D5-DC5B-29E3-3E09-EC1027377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C2625-8CB5-4BFB-9156-FB1F9D0B0BB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93E26-DD6B-F78F-E890-A4B430469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30EFC0-0420-5A88-CFFB-DE17D0B76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E4952-AF0B-449E-9651-568B3FFAF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62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amu.wiki/w/PostgreSQL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3133FB48-A4FE-D077-DA05-5562E54B49E1}"/>
              </a:ext>
            </a:extLst>
          </p:cNvPr>
          <p:cNvGrpSpPr/>
          <p:nvPr/>
        </p:nvGrpSpPr>
        <p:grpSpPr>
          <a:xfrm>
            <a:off x="-483706" y="0"/>
            <a:ext cx="6345467" cy="6858000"/>
            <a:chOff x="-483706" y="0"/>
            <a:chExt cx="6345467" cy="6858000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8D418184-8F50-D15C-DB84-10EF8FAE1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1" t="30564" r="31082" b="-790"/>
            <a:stretch>
              <a:fillRect/>
            </a:stretch>
          </p:blipFill>
          <p:spPr>
            <a:xfrm>
              <a:off x="0" y="0"/>
              <a:ext cx="5291091" cy="3942349"/>
            </a:xfrm>
            <a:prstGeom prst="rect">
              <a:avLst/>
            </a:prstGeom>
          </p:spPr>
        </p:pic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160B0BF4-2239-0F52-4882-08139C939408}"/>
                </a:ext>
              </a:extLst>
            </p:cNvPr>
            <p:cNvSpPr/>
            <p:nvPr/>
          </p:nvSpPr>
          <p:spPr>
            <a:xfrm rot="160608">
              <a:off x="505692" y="704531"/>
              <a:ext cx="5356069" cy="4306895"/>
            </a:xfrm>
            <a:prstGeom prst="triangle">
              <a:avLst>
                <a:gd name="adj" fmla="val 892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9D4A66B7-9F5A-E728-970F-E5661B40E174}"/>
                </a:ext>
              </a:extLst>
            </p:cNvPr>
            <p:cNvSpPr/>
            <p:nvPr/>
          </p:nvSpPr>
          <p:spPr>
            <a:xfrm rot="5400000">
              <a:off x="-70328" y="2041501"/>
              <a:ext cx="4886826" cy="4746171"/>
            </a:xfrm>
            <a:prstGeom prst="triangle">
              <a:avLst>
                <a:gd name="adj" fmla="val 100000"/>
              </a:avLst>
            </a:prstGeom>
            <a:solidFill>
              <a:srgbClr val="3E5A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D9F29D3C-1CDD-1E7B-706D-59ABCC510771}"/>
                </a:ext>
              </a:extLst>
            </p:cNvPr>
            <p:cNvSpPr/>
            <p:nvPr/>
          </p:nvSpPr>
          <p:spPr>
            <a:xfrm rot="18937996">
              <a:off x="-483706" y="2169613"/>
              <a:ext cx="967412" cy="98057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6610103-FED8-AA47-54B8-5148F93A809A}"/>
              </a:ext>
            </a:extLst>
          </p:cNvPr>
          <p:cNvSpPr txBox="1"/>
          <p:nvPr/>
        </p:nvSpPr>
        <p:spPr>
          <a:xfrm>
            <a:off x="4932589" y="1836693"/>
            <a:ext cx="4746172" cy="1786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00"/>
              </a:lnSpc>
            </a:pPr>
            <a:r>
              <a:rPr lang="ko-KR" altLang="en-US" sz="4400" b="1" dirty="0"/>
              <a:t>스페이스프로 </a:t>
            </a:r>
            <a:endParaRPr lang="en-US" altLang="ko-KR" sz="4400" b="1" dirty="0"/>
          </a:p>
          <a:p>
            <a:pPr algn="ctr">
              <a:lnSpc>
                <a:spcPts val="6700"/>
              </a:lnSpc>
            </a:pPr>
            <a:r>
              <a:rPr lang="ko-KR" altLang="en-US" sz="4400" dirty="0"/>
              <a:t>시스템 구축 제안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C46FD-1214-A54C-FF93-10CB13E8CAD3}"/>
              </a:ext>
            </a:extLst>
          </p:cNvPr>
          <p:cNvSpPr txBox="1"/>
          <p:nvPr/>
        </p:nvSpPr>
        <p:spPr>
          <a:xfrm>
            <a:off x="6924000" y="4276086"/>
            <a:ext cx="7633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2025.12</a:t>
            </a:r>
            <a:endParaRPr lang="ko-KR" altLang="en-US" sz="1200" b="1" dirty="0"/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650C28B3-A0FD-C268-1043-1C87CC1E4939}"/>
              </a:ext>
            </a:extLst>
          </p:cNvPr>
          <p:cNvSpPr/>
          <p:nvPr/>
        </p:nvSpPr>
        <p:spPr>
          <a:xfrm>
            <a:off x="10753725" y="0"/>
            <a:ext cx="1438275" cy="1008864"/>
          </a:xfrm>
          <a:prstGeom prst="parallelogram">
            <a:avLst>
              <a:gd name="adj" fmla="val 105336"/>
            </a:avLst>
          </a:prstGeom>
          <a:solidFill>
            <a:srgbClr val="3E5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DCEED00-C48E-3C3B-0F5A-9528164ED07D}"/>
              </a:ext>
            </a:extLst>
          </p:cNvPr>
          <p:cNvGrpSpPr/>
          <p:nvPr/>
        </p:nvGrpSpPr>
        <p:grpSpPr>
          <a:xfrm>
            <a:off x="6562065" y="5700741"/>
            <a:ext cx="1487221" cy="369333"/>
            <a:chOff x="6676679" y="5700741"/>
            <a:chExt cx="1487221" cy="369333"/>
          </a:xfrm>
        </p:grpSpPr>
        <p:pic>
          <p:nvPicPr>
            <p:cNvPr id="13" name="그림 12" descr="폰트, 그래픽, 스크린샷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7162AAD-D654-637D-C255-DBF8E597F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6679" y="5700741"/>
              <a:ext cx="494642" cy="36933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9476D1-57C7-E3D2-10B3-8C13C5739F94}"/>
                </a:ext>
              </a:extLst>
            </p:cNvPr>
            <p:cNvSpPr txBox="1"/>
            <p:nvPr/>
          </p:nvSpPr>
          <p:spPr>
            <a:xfrm>
              <a:off x="7171321" y="5769991"/>
              <a:ext cx="9925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바이너리소프트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797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C70FE82B-B449-9C2A-16A9-61E1D0402A80}"/>
              </a:ext>
            </a:extLst>
          </p:cNvPr>
          <p:cNvGrpSpPr/>
          <p:nvPr/>
        </p:nvGrpSpPr>
        <p:grpSpPr>
          <a:xfrm>
            <a:off x="-483706" y="1971174"/>
            <a:ext cx="5229876" cy="4886826"/>
            <a:chOff x="-483706" y="1971174"/>
            <a:chExt cx="5229876" cy="4886826"/>
          </a:xfrm>
        </p:grpSpPr>
        <p:sp>
          <p:nvSpPr>
            <p:cNvPr id="7" name="이등변 삼각형 6">
              <a:extLst>
                <a:ext uri="{FF2B5EF4-FFF2-40B4-BE49-F238E27FC236}">
                  <a16:creationId xmlns:a16="http://schemas.microsoft.com/office/drawing/2014/main" id="{E96B57B6-6779-4559-069F-309E6C314995}"/>
                </a:ext>
              </a:extLst>
            </p:cNvPr>
            <p:cNvSpPr/>
            <p:nvPr/>
          </p:nvSpPr>
          <p:spPr>
            <a:xfrm rot="5400000">
              <a:off x="-70328" y="2041501"/>
              <a:ext cx="4886826" cy="4746171"/>
            </a:xfrm>
            <a:prstGeom prst="triangle">
              <a:avLst>
                <a:gd name="adj" fmla="val 100000"/>
              </a:avLst>
            </a:prstGeom>
            <a:solidFill>
              <a:srgbClr val="3E5A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DC878D30-FAE2-8A97-34CA-398A3D1817F5}"/>
                </a:ext>
              </a:extLst>
            </p:cNvPr>
            <p:cNvSpPr/>
            <p:nvPr/>
          </p:nvSpPr>
          <p:spPr>
            <a:xfrm rot="18937996">
              <a:off x="-483706" y="2169613"/>
              <a:ext cx="967412" cy="98057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8B055555-9FD3-166A-155B-12F7ACDADE2B}"/>
              </a:ext>
            </a:extLst>
          </p:cNvPr>
          <p:cNvSpPr/>
          <p:nvPr/>
        </p:nvSpPr>
        <p:spPr>
          <a:xfrm>
            <a:off x="10753725" y="0"/>
            <a:ext cx="1438275" cy="1008864"/>
          </a:xfrm>
          <a:prstGeom prst="parallelogram">
            <a:avLst>
              <a:gd name="adj" fmla="val 105336"/>
            </a:avLst>
          </a:prstGeom>
          <a:solidFill>
            <a:srgbClr val="3E5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AB3D3-5945-F3F3-6023-FD561789F8A1}"/>
              </a:ext>
            </a:extLst>
          </p:cNvPr>
          <p:cNvSpPr txBox="1"/>
          <p:nvPr/>
        </p:nvSpPr>
        <p:spPr>
          <a:xfrm>
            <a:off x="1981200" y="747254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Contents</a:t>
            </a:r>
            <a:endParaRPr lang="ko-KR" altLang="en-US" sz="2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36EB22-C819-7AA2-B598-D9C2AC4CF639}"/>
              </a:ext>
            </a:extLst>
          </p:cNvPr>
          <p:cNvSpPr txBox="1"/>
          <p:nvPr/>
        </p:nvSpPr>
        <p:spPr>
          <a:xfrm>
            <a:off x="4527096" y="1652129"/>
            <a:ext cx="2069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3E5AB4"/>
                </a:solidFill>
              </a:rPr>
              <a:t>01. </a:t>
            </a:r>
            <a:r>
              <a:rPr lang="ko-KR" altLang="en-US" sz="2400" b="1" dirty="0">
                <a:solidFill>
                  <a:srgbClr val="3E5AB4"/>
                </a:solidFill>
              </a:rPr>
              <a:t>제안 개요</a:t>
            </a:r>
            <a:endParaRPr lang="ko-KR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A0DC9E-4640-531B-B9B7-E9E3E8723758}"/>
              </a:ext>
            </a:extLst>
          </p:cNvPr>
          <p:cNvSpPr txBox="1"/>
          <p:nvPr/>
        </p:nvSpPr>
        <p:spPr>
          <a:xfrm>
            <a:off x="4532752" y="2491718"/>
            <a:ext cx="2069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3E5AB4"/>
                </a:solidFill>
              </a:rPr>
              <a:t>02. </a:t>
            </a:r>
            <a:r>
              <a:rPr lang="ko-KR" altLang="en-US" sz="2400" b="1" dirty="0">
                <a:solidFill>
                  <a:srgbClr val="3E5AB4"/>
                </a:solidFill>
              </a:rPr>
              <a:t>제안 내용</a:t>
            </a:r>
            <a:endParaRPr lang="ko-KR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CBE3C2-118D-8D7E-8FB5-324A50FBF414}"/>
              </a:ext>
            </a:extLst>
          </p:cNvPr>
          <p:cNvSpPr txBox="1"/>
          <p:nvPr/>
        </p:nvSpPr>
        <p:spPr>
          <a:xfrm>
            <a:off x="4532752" y="3331307"/>
            <a:ext cx="1960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3E5AB4"/>
                </a:solidFill>
              </a:rPr>
              <a:t>03.</a:t>
            </a:r>
            <a:r>
              <a:rPr lang="ko-KR" altLang="en-US" sz="2400" b="1" dirty="0">
                <a:solidFill>
                  <a:srgbClr val="3E5AB4"/>
                </a:solidFill>
              </a:rPr>
              <a:t> 수행계획</a:t>
            </a:r>
            <a:endParaRPr lang="ko-KR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85B039-B1B4-D450-CB52-352C09FE8030}"/>
              </a:ext>
            </a:extLst>
          </p:cNvPr>
          <p:cNvSpPr txBox="1"/>
          <p:nvPr/>
        </p:nvSpPr>
        <p:spPr>
          <a:xfrm>
            <a:off x="4532752" y="4170896"/>
            <a:ext cx="1960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3E5AB4"/>
                </a:solidFill>
              </a:rPr>
              <a:t>04. </a:t>
            </a:r>
            <a:r>
              <a:rPr lang="ko-KR" altLang="en-US" sz="2400" b="1" dirty="0">
                <a:solidFill>
                  <a:srgbClr val="3E5AB4"/>
                </a:solidFill>
              </a:rPr>
              <a:t>투자금액</a:t>
            </a:r>
            <a:endParaRPr lang="ko-KR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52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5246B4-F10E-A5E0-4553-2A7B77EEAB9B}"/>
              </a:ext>
            </a:extLst>
          </p:cNvPr>
          <p:cNvSpPr txBox="1"/>
          <p:nvPr/>
        </p:nvSpPr>
        <p:spPr>
          <a:xfrm>
            <a:off x="247650" y="129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3E5AB4"/>
                </a:solidFill>
                <a:latin typeface="+mn-ea"/>
              </a:rPr>
              <a:t>01.</a:t>
            </a:r>
            <a:r>
              <a:rPr lang="ko-KR" altLang="en-US" sz="1800" b="1" dirty="0">
                <a:solidFill>
                  <a:srgbClr val="3E5AB4"/>
                </a:solidFill>
                <a:latin typeface="+mn-ea"/>
              </a:rPr>
              <a:t> 제안 개요</a:t>
            </a:r>
            <a:endParaRPr lang="ko-KR" altLang="en-US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ABE9C-A165-78A9-DC97-66BF9E4012A8}"/>
              </a:ext>
            </a:extLst>
          </p:cNvPr>
          <p:cNvSpPr txBox="1"/>
          <p:nvPr/>
        </p:nvSpPr>
        <p:spPr>
          <a:xfrm>
            <a:off x="514350" y="689491"/>
            <a:ext cx="12890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개선항목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5793A19-17F0-5119-51CF-BDD188782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258198"/>
              </p:ext>
            </p:extLst>
          </p:nvPr>
        </p:nvGraphicFramePr>
        <p:xfrm>
          <a:off x="666750" y="1087966"/>
          <a:ext cx="6197600" cy="4982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955400835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1756205863"/>
                    </a:ext>
                  </a:extLst>
                </a:gridCol>
              </a:tblGrid>
              <a:tr h="61131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j-lt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j-lt"/>
                        </a:rPr>
                        <a:t>주요내용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662708"/>
                  </a:ext>
                </a:extLst>
              </a:tr>
              <a:tr h="21102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주요진행관리에 상황을 실시간 집계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모니터링 필요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- 20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여개 공장內 생산진행관리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주별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일별 생산계획 시스템화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설비가동 현황 모니터링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외주물량 관리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다품종 제품에 대한 기준정보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919618"/>
                  </a:ext>
                </a:extLst>
              </a:tr>
              <a:tr h="145710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라인內자재관리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라인內 주요자재 실시간 관리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생산계획과 연동하여 자재 수급정보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라인內 보유자재 현황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3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선입고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자재현황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716545"/>
                  </a:ext>
                </a:extLst>
              </a:tr>
              <a:tr h="8039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금형관리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금형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위치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 관리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라인간 금형 이동시 시스템으로 관리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536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1E831E9-DBF3-3B04-0360-3F3E38B30E0D}"/>
              </a:ext>
            </a:extLst>
          </p:cNvPr>
          <p:cNvSpPr txBox="1"/>
          <p:nvPr/>
        </p:nvSpPr>
        <p:spPr>
          <a:xfrm>
            <a:off x="9051125" y="906373"/>
            <a:ext cx="12890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개선과제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5109E1-A4FC-F0A1-7462-BBA528DDF2D7}"/>
              </a:ext>
            </a:extLst>
          </p:cNvPr>
          <p:cNvSpPr/>
          <p:nvPr/>
        </p:nvSpPr>
        <p:spPr>
          <a:xfrm>
            <a:off x="8585200" y="1701800"/>
            <a:ext cx="2406650" cy="42862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E2C38F9-E626-782E-9A4A-B3C9F0975E16}"/>
              </a:ext>
            </a:extLst>
          </p:cNvPr>
          <p:cNvSpPr/>
          <p:nvPr/>
        </p:nvSpPr>
        <p:spPr>
          <a:xfrm>
            <a:off x="8870950" y="2438073"/>
            <a:ext cx="1822450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생산진행 모듈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3CAB8A-9CDA-B9D9-1E07-80CA997C858E}"/>
              </a:ext>
            </a:extLst>
          </p:cNvPr>
          <p:cNvSpPr/>
          <p:nvPr/>
        </p:nvSpPr>
        <p:spPr>
          <a:xfrm>
            <a:off x="8870950" y="3301782"/>
            <a:ext cx="1822450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생산계획 모듈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2C19CB-BDFB-ADC6-8DE7-199489393C83}"/>
              </a:ext>
            </a:extLst>
          </p:cNvPr>
          <p:cNvSpPr/>
          <p:nvPr/>
        </p:nvSpPr>
        <p:spPr>
          <a:xfrm>
            <a:off x="8870950" y="4165491"/>
            <a:ext cx="1822450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자재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&amp;</a:t>
            </a: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</a:rPr>
              <a:t>금형관리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 모듈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6E1548-C461-43F6-093D-C7904351AE89}"/>
              </a:ext>
            </a:extLst>
          </p:cNvPr>
          <p:cNvSpPr/>
          <p:nvPr/>
        </p:nvSpPr>
        <p:spPr>
          <a:xfrm>
            <a:off x="8870950" y="5029200"/>
            <a:ext cx="1822450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기준정보 모듈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537F311-6DEA-DC46-57F7-9E20B01588A7}"/>
              </a:ext>
            </a:extLst>
          </p:cNvPr>
          <p:cNvGrpSpPr/>
          <p:nvPr/>
        </p:nvGrpSpPr>
        <p:grpSpPr>
          <a:xfrm>
            <a:off x="9180266" y="1524327"/>
            <a:ext cx="1141659" cy="354945"/>
            <a:chOff x="7620000" y="1057404"/>
            <a:chExt cx="1141659" cy="354945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7340B87-F255-0123-1F88-FA359D602DAA}"/>
                </a:ext>
              </a:extLst>
            </p:cNvPr>
            <p:cNvSpPr/>
            <p:nvPr/>
          </p:nvSpPr>
          <p:spPr>
            <a:xfrm>
              <a:off x="7620000" y="1057404"/>
              <a:ext cx="1130300" cy="35494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794336-FBA1-42FE-7FDD-299D2B199229}"/>
                </a:ext>
              </a:extLst>
            </p:cNvPr>
            <p:cNvSpPr txBox="1"/>
            <p:nvPr/>
          </p:nvSpPr>
          <p:spPr>
            <a:xfrm>
              <a:off x="7620000" y="1087966"/>
              <a:ext cx="11416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MES </a:t>
              </a:r>
              <a:r>
                <a:rPr lang="ko-KR" altLang="en-US" sz="1400" dirty="0"/>
                <a:t>시스템</a:t>
              </a:r>
            </a:p>
          </p:txBody>
        </p:sp>
      </p:grpSp>
      <p:sp>
        <p:nvSpPr>
          <p:cNvPr id="18" name="타원 17">
            <a:extLst>
              <a:ext uri="{FF2B5EF4-FFF2-40B4-BE49-F238E27FC236}">
                <a16:creationId xmlns:a16="http://schemas.microsoft.com/office/drawing/2014/main" id="{33623312-B7FE-33AE-B3B8-B7108D8D73DF}"/>
              </a:ext>
            </a:extLst>
          </p:cNvPr>
          <p:cNvSpPr/>
          <p:nvPr/>
        </p:nvSpPr>
        <p:spPr>
          <a:xfrm>
            <a:off x="5493046" y="2279559"/>
            <a:ext cx="120945" cy="1224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78852C4-5F14-432D-9FB9-371E0EC1A28B}"/>
              </a:ext>
            </a:extLst>
          </p:cNvPr>
          <p:cNvSpPr/>
          <p:nvPr/>
        </p:nvSpPr>
        <p:spPr>
          <a:xfrm>
            <a:off x="5493046" y="2580266"/>
            <a:ext cx="120945" cy="1224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0DC44B2-22B0-FD30-6798-D5EE80A15B8A}"/>
              </a:ext>
            </a:extLst>
          </p:cNvPr>
          <p:cNvSpPr/>
          <p:nvPr/>
        </p:nvSpPr>
        <p:spPr>
          <a:xfrm>
            <a:off x="5493046" y="2880973"/>
            <a:ext cx="120945" cy="1224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61D5F17-4C7F-E2A5-8B47-FC081144E324}"/>
              </a:ext>
            </a:extLst>
          </p:cNvPr>
          <p:cNvSpPr/>
          <p:nvPr/>
        </p:nvSpPr>
        <p:spPr>
          <a:xfrm>
            <a:off x="5493046" y="3181680"/>
            <a:ext cx="120945" cy="1224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D66C1F3-A948-15DE-06F8-A5FEC729443B}"/>
              </a:ext>
            </a:extLst>
          </p:cNvPr>
          <p:cNvSpPr/>
          <p:nvPr/>
        </p:nvSpPr>
        <p:spPr>
          <a:xfrm>
            <a:off x="5493046" y="3482388"/>
            <a:ext cx="120945" cy="1224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BEB0CAD-D7DD-DFE9-1474-B7F9CEBFF938}"/>
              </a:ext>
            </a:extLst>
          </p:cNvPr>
          <p:cNvSpPr/>
          <p:nvPr/>
        </p:nvSpPr>
        <p:spPr>
          <a:xfrm>
            <a:off x="5493046" y="4366574"/>
            <a:ext cx="120945" cy="1224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D010B85-5B7E-68DB-2E23-F9A091C56D16}"/>
              </a:ext>
            </a:extLst>
          </p:cNvPr>
          <p:cNvSpPr/>
          <p:nvPr/>
        </p:nvSpPr>
        <p:spPr>
          <a:xfrm>
            <a:off x="5493046" y="4667281"/>
            <a:ext cx="120945" cy="1224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2E29DA6-7D20-E3AD-B0F5-F3EBC34D285E}"/>
              </a:ext>
            </a:extLst>
          </p:cNvPr>
          <p:cNvSpPr/>
          <p:nvPr/>
        </p:nvSpPr>
        <p:spPr>
          <a:xfrm>
            <a:off x="5493046" y="4967989"/>
            <a:ext cx="120945" cy="1224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F811D39-DCAF-B4C3-191D-DB7ADAFFE2F7}"/>
              </a:ext>
            </a:extLst>
          </p:cNvPr>
          <p:cNvSpPr/>
          <p:nvPr/>
        </p:nvSpPr>
        <p:spPr>
          <a:xfrm>
            <a:off x="5493046" y="5807509"/>
            <a:ext cx="120945" cy="1224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657C020-1EB3-118E-6153-4CC8A01C8BD8}"/>
              </a:ext>
            </a:extLst>
          </p:cNvPr>
          <p:cNvCxnSpPr>
            <a:cxnSpLocks/>
            <a:stCxn id="18" idx="5"/>
            <a:endCxn id="9" idx="1"/>
          </p:cNvCxnSpPr>
          <p:nvPr/>
        </p:nvCxnSpPr>
        <p:spPr>
          <a:xfrm>
            <a:off x="5596279" y="2384053"/>
            <a:ext cx="3274671" cy="282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94243E9-1DFF-CDDC-E500-B950F8B114FE}"/>
              </a:ext>
            </a:extLst>
          </p:cNvPr>
          <p:cNvCxnSpPr>
            <a:cxnSpLocks/>
            <a:stCxn id="19" idx="6"/>
            <a:endCxn id="10" idx="1"/>
          </p:cNvCxnSpPr>
          <p:nvPr/>
        </p:nvCxnSpPr>
        <p:spPr>
          <a:xfrm>
            <a:off x="5613991" y="2641477"/>
            <a:ext cx="3256959" cy="888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BDC8F7B-BA2B-D995-2FE0-85CC92EC21E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5613991" y="3569028"/>
            <a:ext cx="3256959" cy="1688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77E14FC-B284-B071-339B-B8D06369B53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596279" y="4394091"/>
            <a:ext cx="3274671" cy="33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194C401-9C00-C22F-0107-DF0183FD5BC9}"/>
              </a:ext>
            </a:extLst>
          </p:cNvPr>
          <p:cNvCxnSpPr>
            <a:cxnSpLocks/>
            <a:stCxn id="27" idx="6"/>
            <a:endCxn id="11" idx="1"/>
          </p:cNvCxnSpPr>
          <p:nvPr/>
        </p:nvCxnSpPr>
        <p:spPr>
          <a:xfrm flipV="1">
            <a:off x="5613991" y="4394091"/>
            <a:ext cx="3256959" cy="334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0B0293E-8C16-67BE-5B71-467960CC04B9}"/>
              </a:ext>
            </a:extLst>
          </p:cNvPr>
          <p:cNvCxnSpPr>
            <a:cxnSpLocks/>
            <a:stCxn id="28" idx="5"/>
            <a:endCxn id="11" idx="1"/>
          </p:cNvCxnSpPr>
          <p:nvPr/>
        </p:nvCxnSpPr>
        <p:spPr>
          <a:xfrm flipV="1">
            <a:off x="5596279" y="4394091"/>
            <a:ext cx="3274671" cy="678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FBF0CC0-5D9A-96E5-79BD-F503601C5B04}"/>
              </a:ext>
            </a:extLst>
          </p:cNvPr>
          <p:cNvCxnSpPr>
            <a:cxnSpLocks/>
            <a:stCxn id="30" idx="6"/>
            <a:endCxn id="11" idx="1"/>
          </p:cNvCxnSpPr>
          <p:nvPr/>
        </p:nvCxnSpPr>
        <p:spPr>
          <a:xfrm flipV="1">
            <a:off x="5613991" y="4394091"/>
            <a:ext cx="3256959" cy="1474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C7E1252-D834-A2BE-35FB-096083041334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596279" y="3530382"/>
            <a:ext cx="3274671" cy="863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2D91CA3-F52A-7C93-76A3-BF7EAEF2BDA9}"/>
              </a:ext>
            </a:extLst>
          </p:cNvPr>
          <p:cNvCxnSpPr>
            <a:cxnSpLocks/>
            <a:stCxn id="20" idx="6"/>
            <a:endCxn id="9" idx="1"/>
          </p:cNvCxnSpPr>
          <p:nvPr/>
        </p:nvCxnSpPr>
        <p:spPr>
          <a:xfrm flipV="1">
            <a:off x="5613991" y="2666673"/>
            <a:ext cx="3256959" cy="275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E81E78A-2C33-9D19-7137-7F72F3E89938}"/>
              </a:ext>
            </a:extLst>
          </p:cNvPr>
          <p:cNvCxnSpPr>
            <a:cxnSpLocks/>
            <a:stCxn id="21" idx="7"/>
            <a:endCxn id="9" idx="1"/>
          </p:cNvCxnSpPr>
          <p:nvPr/>
        </p:nvCxnSpPr>
        <p:spPr>
          <a:xfrm flipV="1">
            <a:off x="5596279" y="2666673"/>
            <a:ext cx="3274671" cy="532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78515922-9891-75A4-DC7B-B3EDB221A72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596279" y="2927151"/>
            <a:ext cx="3274671" cy="603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701A089-51B5-A42E-349B-66A94B61813B}"/>
              </a:ext>
            </a:extLst>
          </p:cNvPr>
          <p:cNvCxnSpPr>
            <a:cxnSpLocks/>
            <a:stCxn id="26" idx="5"/>
            <a:endCxn id="12" idx="1"/>
          </p:cNvCxnSpPr>
          <p:nvPr/>
        </p:nvCxnSpPr>
        <p:spPr>
          <a:xfrm>
            <a:off x="5596279" y="4471068"/>
            <a:ext cx="3274671" cy="786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42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9432B-B0B9-BA23-168D-B5CAA95C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F6D19E0-5FDE-029C-305A-E0C930612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855" y="1533005"/>
            <a:ext cx="8142548" cy="1687401"/>
          </a:xfrm>
          <a:prstGeom prst="rect">
            <a:avLst/>
          </a:prstGeom>
          <a:solidFill>
            <a:schemeClr val="bg1"/>
          </a:solidFill>
          <a:ln w="28575">
            <a:solidFill>
              <a:srgbClr val="3E5AB4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6AE45E-D4DD-CCB0-4D82-E791544EC9B1}"/>
              </a:ext>
            </a:extLst>
          </p:cNvPr>
          <p:cNvSpPr txBox="1"/>
          <p:nvPr/>
        </p:nvSpPr>
        <p:spPr>
          <a:xfrm>
            <a:off x="247650" y="129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3E5AB4"/>
                </a:solidFill>
                <a:latin typeface="+mn-ea"/>
              </a:rPr>
              <a:t>01.</a:t>
            </a:r>
            <a:r>
              <a:rPr lang="ko-KR" altLang="en-US" sz="1800" b="1" dirty="0">
                <a:solidFill>
                  <a:srgbClr val="3E5AB4"/>
                </a:solidFill>
                <a:latin typeface="+mn-ea"/>
              </a:rPr>
              <a:t> 제안 개요</a:t>
            </a:r>
            <a:endParaRPr lang="ko-KR" altLang="en-US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11A7B-BC9E-E5FC-7FAC-EA394A5A4C6B}"/>
              </a:ext>
            </a:extLst>
          </p:cNvPr>
          <p:cNvSpPr txBox="1"/>
          <p:nvPr/>
        </p:nvSpPr>
        <p:spPr>
          <a:xfrm>
            <a:off x="514350" y="6894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목표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9C163D2-B66D-4D7B-495B-40987D6F2A23}"/>
              </a:ext>
            </a:extLst>
          </p:cNvPr>
          <p:cNvSpPr/>
          <p:nvPr/>
        </p:nvSpPr>
        <p:spPr>
          <a:xfrm>
            <a:off x="3984530" y="765573"/>
            <a:ext cx="4222939" cy="666917"/>
          </a:xfrm>
          <a:prstGeom prst="roundRect">
            <a:avLst>
              <a:gd name="adj" fmla="val 50000"/>
            </a:avLst>
          </a:prstGeom>
          <a:solidFill>
            <a:srgbClr val="2E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시스템을 통한 경영관리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AAD7F1D-A184-5150-69F4-D88A9602DF99}"/>
              </a:ext>
            </a:extLst>
          </p:cNvPr>
          <p:cNvGrpSpPr/>
          <p:nvPr/>
        </p:nvGrpSpPr>
        <p:grpSpPr>
          <a:xfrm>
            <a:off x="1979368" y="2311851"/>
            <a:ext cx="8263835" cy="420532"/>
            <a:chOff x="1928568" y="2559501"/>
            <a:chExt cx="8263835" cy="42053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D5E236FB-11AC-6D54-8ACC-979C5CC67CDA}"/>
                </a:ext>
              </a:extLst>
            </p:cNvPr>
            <p:cNvSpPr/>
            <p:nvPr/>
          </p:nvSpPr>
          <p:spPr>
            <a:xfrm>
              <a:off x="1928568" y="2559501"/>
              <a:ext cx="2929808" cy="420532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50000"/>
                <a:lumOff val="50000"/>
                <a:alpha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누수현상 최소화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47A6CAF-8B76-2340-59D7-67F4D929BDB7}"/>
                </a:ext>
              </a:extLst>
            </p:cNvPr>
            <p:cNvSpPr/>
            <p:nvPr/>
          </p:nvSpPr>
          <p:spPr>
            <a:xfrm>
              <a:off x="4576901" y="2559501"/>
              <a:ext cx="2929808" cy="420532"/>
            </a:xfrm>
            <a:prstGeom prst="roundRect">
              <a:avLst>
                <a:gd name="adj" fmla="val 50000"/>
              </a:avLst>
            </a:prstGeom>
            <a:solidFill>
              <a:srgbClr val="7489CE">
                <a:alpha val="80000"/>
              </a:srgb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납기약속</a:t>
              </a:r>
              <a:endParaRPr lang="ko-KR" altLang="en-US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BF491CA7-F2AF-FAC2-A3ED-08A09725ACFE}"/>
                </a:ext>
              </a:extLst>
            </p:cNvPr>
            <p:cNvSpPr/>
            <p:nvPr/>
          </p:nvSpPr>
          <p:spPr>
            <a:xfrm>
              <a:off x="7262595" y="2559501"/>
              <a:ext cx="2929808" cy="420532"/>
            </a:xfrm>
            <a:prstGeom prst="roundRect">
              <a:avLst>
                <a:gd name="adj" fmla="val 50000"/>
              </a:avLst>
            </a:prstGeom>
            <a:solidFill>
              <a:srgbClr val="344C98">
                <a:alpha val="80000"/>
              </a:srgb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계획 경영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041E136-ADC4-DBAA-0156-34E54FF43ED0}"/>
              </a:ext>
            </a:extLst>
          </p:cNvPr>
          <p:cNvSpPr txBox="1"/>
          <p:nvPr/>
        </p:nvSpPr>
        <p:spPr>
          <a:xfrm>
            <a:off x="982324" y="3820447"/>
            <a:ext cx="1636987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/>
              <a:t>○ </a:t>
            </a:r>
            <a:r>
              <a:rPr lang="ko-KR" altLang="en-US" sz="1300" dirty="0"/>
              <a:t>계획</a:t>
            </a:r>
            <a:r>
              <a:rPr lang="en-US" altLang="ko-KR" sz="1300" dirty="0"/>
              <a:t>/</a:t>
            </a:r>
            <a:r>
              <a:rPr lang="ko-KR" altLang="en-US" sz="1300" dirty="0"/>
              <a:t>실적 </a:t>
            </a:r>
            <a:r>
              <a:rPr lang="en-US" altLang="ko-KR" sz="1300" dirty="0"/>
              <a:t>BOM</a:t>
            </a:r>
            <a:br>
              <a:rPr lang="en-US" altLang="ko-KR" sz="1300" dirty="0"/>
            </a:br>
            <a:br>
              <a:rPr lang="en-US" altLang="ko-KR" sz="1300" dirty="0"/>
            </a:br>
            <a:r>
              <a:rPr lang="ko-KR" altLang="en-US" sz="1300" dirty="0"/>
              <a:t>○</a:t>
            </a:r>
            <a:r>
              <a:rPr lang="en-US" altLang="ko-KR" sz="1300" dirty="0"/>
              <a:t> </a:t>
            </a:r>
            <a:r>
              <a:rPr lang="ko-KR" altLang="en-US" sz="1300" dirty="0"/>
              <a:t>제품기준정보</a:t>
            </a:r>
            <a:br>
              <a:rPr lang="en-US" altLang="ko-KR" sz="1300" dirty="0"/>
            </a:br>
            <a:br>
              <a:rPr lang="en-US" altLang="ko-KR" sz="1300" dirty="0"/>
            </a:br>
            <a:r>
              <a:rPr lang="ko-KR" altLang="en-US" sz="1300" dirty="0"/>
              <a:t>○ 자재 기준정보</a:t>
            </a:r>
            <a:br>
              <a:rPr lang="en-US" altLang="ko-KR" sz="1300" dirty="0"/>
            </a:br>
            <a:br>
              <a:rPr lang="en-US" altLang="ko-KR" sz="1300" dirty="0"/>
            </a:br>
            <a:r>
              <a:rPr lang="ko-KR" altLang="en-US" sz="1300" dirty="0"/>
              <a:t>○ 설비기준정보</a:t>
            </a:r>
            <a:endParaRPr lang="en-US" altLang="ko-KR" sz="1300" dirty="0"/>
          </a:p>
          <a:p>
            <a:br>
              <a:rPr lang="en-US" altLang="ko-KR" sz="1300" dirty="0"/>
            </a:br>
            <a:r>
              <a:rPr lang="ko-KR" altLang="en-US" sz="1300" dirty="0"/>
              <a:t>○ 작업자 기준정보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A863AEF-512C-FAEB-5551-83E8197E5F53}"/>
              </a:ext>
            </a:extLst>
          </p:cNvPr>
          <p:cNvSpPr/>
          <p:nvPr/>
        </p:nvSpPr>
        <p:spPr>
          <a:xfrm>
            <a:off x="823242" y="3447094"/>
            <a:ext cx="2514600" cy="2610805"/>
          </a:xfrm>
          <a:prstGeom prst="roundRect">
            <a:avLst>
              <a:gd name="adj" fmla="val 5067"/>
            </a:avLst>
          </a:prstGeom>
          <a:noFill/>
          <a:ln>
            <a:solidFill>
              <a:srgbClr val="3E5A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753C67F-1443-1CB9-79C5-1032DE52314C}"/>
              </a:ext>
            </a:extLst>
          </p:cNvPr>
          <p:cNvSpPr/>
          <p:nvPr/>
        </p:nvSpPr>
        <p:spPr>
          <a:xfrm>
            <a:off x="3496925" y="3447094"/>
            <a:ext cx="2514600" cy="2610805"/>
          </a:xfrm>
          <a:prstGeom prst="roundRect">
            <a:avLst>
              <a:gd name="adj" fmla="val 5067"/>
            </a:avLst>
          </a:prstGeom>
          <a:noFill/>
          <a:ln>
            <a:solidFill>
              <a:srgbClr val="3E5A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FEBEF9E-E653-532F-8683-399C5D02DDE6}"/>
              </a:ext>
            </a:extLst>
          </p:cNvPr>
          <p:cNvSpPr/>
          <p:nvPr/>
        </p:nvSpPr>
        <p:spPr>
          <a:xfrm>
            <a:off x="6170608" y="3447094"/>
            <a:ext cx="2514600" cy="2610805"/>
          </a:xfrm>
          <a:prstGeom prst="roundRect">
            <a:avLst>
              <a:gd name="adj" fmla="val 5067"/>
            </a:avLst>
          </a:prstGeom>
          <a:noFill/>
          <a:ln>
            <a:solidFill>
              <a:srgbClr val="3E5A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F5B0E84-7C31-3875-AAA2-305D056DEE10}"/>
              </a:ext>
            </a:extLst>
          </p:cNvPr>
          <p:cNvSpPr/>
          <p:nvPr/>
        </p:nvSpPr>
        <p:spPr>
          <a:xfrm>
            <a:off x="8844291" y="3447094"/>
            <a:ext cx="2514600" cy="2610805"/>
          </a:xfrm>
          <a:prstGeom prst="roundRect">
            <a:avLst>
              <a:gd name="adj" fmla="val 5067"/>
            </a:avLst>
          </a:prstGeom>
          <a:noFill/>
          <a:ln>
            <a:solidFill>
              <a:srgbClr val="3E5A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6A40B0-93B5-ECB2-AF00-5440F08A99AA}"/>
              </a:ext>
            </a:extLst>
          </p:cNvPr>
          <p:cNvSpPr txBox="1"/>
          <p:nvPr/>
        </p:nvSpPr>
        <p:spPr>
          <a:xfrm>
            <a:off x="6484794" y="3820447"/>
            <a:ext cx="235354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○ 실적관리</a:t>
            </a:r>
            <a:r>
              <a:rPr lang="en-US" altLang="ko-KR" sz="1300" dirty="0"/>
              <a:t> </a:t>
            </a:r>
          </a:p>
          <a:p>
            <a:endParaRPr lang="en-US" altLang="ko-KR" sz="1300" dirty="0"/>
          </a:p>
          <a:p>
            <a:r>
              <a:rPr lang="ko-KR" altLang="en-US" sz="1300" dirty="0"/>
              <a:t>○ </a:t>
            </a:r>
            <a:r>
              <a:rPr lang="ko-KR" altLang="en-US" sz="1300" dirty="0" err="1"/>
              <a:t>진척율</a:t>
            </a:r>
            <a:r>
              <a:rPr lang="ko-KR" altLang="en-US" sz="1300" dirty="0"/>
              <a:t> 관리</a:t>
            </a:r>
            <a:endParaRPr lang="en-US" altLang="ko-KR" sz="1300" dirty="0"/>
          </a:p>
          <a:p>
            <a:endParaRPr lang="en-US" altLang="ko-KR" sz="1300" dirty="0"/>
          </a:p>
          <a:p>
            <a:r>
              <a:rPr lang="ko-KR" altLang="en-US" sz="1300" dirty="0"/>
              <a:t>○ </a:t>
            </a:r>
            <a:r>
              <a:rPr lang="en-US" altLang="ko-KR" sz="1300" dirty="0"/>
              <a:t>L/T </a:t>
            </a:r>
            <a:r>
              <a:rPr lang="ko-KR" altLang="en-US" sz="1300" dirty="0"/>
              <a:t>관리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B330F-799F-C3E8-B52D-812AB944EE09}"/>
              </a:ext>
            </a:extLst>
          </p:cNvPr>
          <p:cNvSpPr txBox="1"/>
          <p:nvPr/>
        </p:nvSpPr>
        <p:spPr>
          <a:xfrm>
            <a:off x="9234826" y="3820447"/>
            <a:ext cx="2129576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○ 일별 생산계획</a:t>
            </a:r>
            <a:endParaRPr lang="en-US" altLang="ko-KR" sz="1300" dirty="0"/>
          </a:p>
          <a:p>
            <a:endParaRPr lang="en-US" altLang="ko-KR" sz="1300" dirty="0"/>
          </a:p>
          <a:p>
            <a:r>
              <a:rPr lang="ko-KR" altLang="en-US" sz="1300" dirty="0"/>
              <a:t>○ 주별 생산계획</a:t>
            </a:r>
            <a:endParaRPr lang="en-US" altLang="ko-KR" sz="1300" dirty="0"/>
          </a:p>
          <a:p>
            <a:endParaRPr lang="en-US" altLang="ko-KR" sz="1300" dirty="0"/>
          </a:p>
          <a:p>
            <a:r>
              <a:rPr lang="ko-KR" altLang="en-US" sz="1300" dirty="0"/>
              <a:t>○ 월별 생산계획</a:t>
            </a:r>
            <a:endParaRPr lang="en-US" altLang="ko-KR" sz="1300" dirty="0"/>
          </a:p>
          <a:p>
            <a:endParaRPr lang="en-US" altLang="ko-KR" sz="1300" dirty="0"/>
          </a:p>
          <a:p>
            <a:r>
              <a:rPr lang="ko-KR" altLang="en-US" sz="1300" dirty="0"/>
              <a:t>○ 자재 소요량 정보</a:t>
            </a:r>
            <a:endParaRPr lang="en-US" altLang="ko-KR" sz="13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FD6AE6A-3353-1CC4-DB43-D879CC28A101}"/>
              </a:ext>
            </a:extLst>
          </p:cNvPr>
          <p:cNvSpPr/>
          <p:nvPr/>
        </p:nvSpPr>
        <p:spPr>
          <a:xfrm>
            <a:off x="1070219" y="3114334"/>
            <a:ext cx="2020646" cy="420532"/>
          </a:xfrm>
          <a:prstGeom prst="roundRect">
            <a:avLst>
              <a:gd name="adj" fmla="val 46628"/>
            </a:avLst>
          </a:prstGeom>
          <a:solidFill>
            <a:schemeClr val="bg1"/>
          </a:solidFill>
          <a:ln w="28575">
            <a:solidFill>
              <a:srgbClr val="3E5A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1E247B"/>
                </a:solidFill>
              </a:rPr>
              <a:t>기준정보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CC5E772-997B-CE21-9E35-F60DB2F5326E}"/>
              </a:ext>
            </a:extLst>
          </p:cNvPr>
          <p:cNvSpPr/>
          <p:nvPr/>
        </p:nvSpPr>
        <p:spPr>
          <a:xfrm>
            <a:off x="3743902" y="3114334"/>
            <a:ext cx="2020646" cy="420532"/>
          </a:xfrm>
          <a:prstGeom prst="roundRect">
            <a:avLst>
              <a:gd name="adj" fmla="val 46628"/>
            </a:avLst>
          </a:prstGeom>
          <a:solidFill>
            <a:schemeClr val="bg1"/>
          </a:solidFill>
          <a:ln w="28575">
            <a:solidFill>
              <a:srgbClr val="3E5A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1E247B"/>
                </a:solidFill>
              </a:rPr>
              <a:t>라인內 자재관리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4D3DDD3-CBBD-E1AE-CE6B-368FFE9320CF}"/>
              </a:ext>
            </a:extLst>
          </p:cNvPr>
          <p:cNvSpPr/>
          <p:nvPr/>
        </p:nvSpPr>
        <p:spPr>
          <a:xfrm>
            <a:off x="6417585" y="3114334"/>
            <a:ext cx="2020646" cy="420532"/>
          </a:xfrm>
          <a:prstGeom prst="roundRect">
            <a:avLst>
              <a:gd name="adj" fmla="val 46628"/>
            </a:avLst>
          </a:prstGeom>
          <a:solidFill>
            <a:schemeClr val="bg1"/>
          </a:solidFill>
          <a:ln w="28575">
            <a:solidFill>
              <a:srgbClr val="3E5A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1E247B"/>
                </a:solidFill>
              </a:rPr>
              <a:t>생산관리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CCBA21E-BB93-8F2A-F97B-01ECAD953229}"/>
              </a:ext>
            </a:extLst>
          </p:cNvPr>
          <p:cNvSpPr/>
          <p:nvPr/>
        </p:nvSpPr>
        <p:spPr>
          <a:xfrm>
            <a:off x="9091268" y="3114334"/>
            <a:ext cx="2020646" cy="420532"/>
          </a:xfrm>
          <a:prstGeom prst="roundRect">
            <a:avLst>
              <a:gd name="adj" fmla="val 46628"/>
            </a:avLst>
          </a:prstGeom>
          <a:solidFill>
            <a:schemeClr val="bg1"/>
          </a:solidFill>
          <a:ln w="28575">
            <a:solidFill>
              <a:srgbClr val="3E5A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1E247B"/>
                </a:solidFill>
              </a:rPr>
              <a:t>생산계획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41AA92-EB31-F88D-A270-33FC61291409}"/>
              </a:ext>
            </a:extLst>
          </p:cNvPr>
          <p:cNvSpPr txBox="1"/>
          <p:nvPr/>
        </p:nvSpPr>
        <p:spPr>
          <a:xfrm>
            <a:off x="3732635" y="3820447"/>
            <a:ext cx="1922321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/>
              <a:t>○ </a:t>
            </a:r>
            <a:r>
              <a:rPr lang="ko-KR" altLang="en-US" sz="1300" dirty="0"/>
              <a:t>라인內 자재 재고</a:t>
            </a:r>
            <a:br>
              <a:rPr lang="en-US" altLang="ko-KR" sz="1300" dirty="0"/>
            </a:br>
            <a:br>
              <a:rPr lang="en-US" altLang="ko-KR" sz="1300" dirty="0"/>
            </a:br>
            <a:r>
              <a:rPr lang="ko-KR" altLang="en-US" sz="1300" dirty="0"/>
              <a:t>○</a:t>
            </a:r>
            <a:r>
              <a:rPr lang="en-US" altLang="ko-KR" sz="1300" dirty="0"/>
              <a:t> </a:t>
            </a:r>
            <a:r>
              <a:rPr lang="ko-KR" altLang="en-US" sz="1300" dirty="0"/>
              <a:t>주요 자재 반입 정보</a:t>
            </a:r>
            <a:br>
              <a:rPr lang="en-US" altLang="ko-KR" sz="1300" dirty="0"/>
            </a:br>
            <a:br>
              <a:rPr lang="en-US" altLang="ko-KR" sz="1300" dirty="0"/>
            </a:br>
            <a:r>
              <a:rPr lang="ko-KR" altLang="en-US" sz="1300" dirty="0"/>
              <a:t>○ 주요 자재 사용정보</a:t>
            </a:r>
            <a:br>
              <a:rPr lang="en-US" altLang="ko-KR" sz="1300" dirty="0"/>
            </a:br>
            <a:br>
              <a:rPr lang="en-US" altLang="ko-KR" sz="1300" dirty="0"/>
            </a:br>
            <a:r>
              <a:rPr lang="ko-KR" altLang="en-US" sz="1300" dirty="0"/>
              <a:t>○ 금형 반입</a:t>
            </a:r>
            <a:r>
              <a:rPr lang="en-US" altLang="ko-KR" sz="1300" dirty="0"/>
              <a:t>,</a:t>
            </a:r>
            <a:r>
              <a:rPr lang="ko-KR" altLang="en-US" sz="1300" dirty="0"/>
              <a:t>반출정보</a:t>
            </a:r>
            <a:br>
              <a:rPr lang="en-US" altLang="ko-KR" sz="1300" dirty="0"/>
            </a:br>
            <a:endParaRPr lang="ko-KR" altLang="en-US" sz="1300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9886A22-F21C-56C1-8A8F-8833D21A34C8}"/>
              </a:ext>
            </a:extLst>
          </p:cNvPr>
          <p:cNvSpPr/>
          <p:nvPr/>
        </p:nvSpPr>
        <p:spPr>
          <a:xfrm>
            <a:off x="1167065" y="6054049"/>
            <a:ext cx="1247269" cy="256191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※ L/T : Lead Time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254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E73B-BD97-6AA9-600E-C8A9E0A26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12F60A-7B3C-CCB3-0E26-E66D243E07A3}"/>
              </a:ext>
            </a:extLst>
          </p:cNvPr>
          <p:cNvSpPr txBox="1"/>
          <p:nvPr/>
        </p:nvSpPr>
        <p:spPr>
          <a:xfrm>
            <a:off x="247650" y="129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3E5AB4"/>
                </a:solidFill>
                <a:latin typeface="+mn-ea"/>
              </a:rPr>
              <a:t>02.</a:t>
            </a:r>
            <a:r>
              <a:rPr lang="ko-KR" altLang="en-US" sz="1800" b="1" dirty="0">
                <a:solidFill>
                  <a:srgbClr val="3E5AB4"/>
                </a:solidFill>
                <a:latin typeface="+mn-ea"/>
              </a:rPr>
              <a:t> 제안 내용</a:t>
            </a:r>
            <a:endParaRPr lang="ko-KR" altLang="en-US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4D706-6888-9912-E606-064A8BB68BE2}"/>
              </a:ext>
            </a:extLst>
          </p:cNvPr>
          <p:cNvSpPr txBox="1"/>
          <p:nvPr/>
        </p:nvSpPr>
        <p:spPr>
          <a:xfrm>
            <a:off x="514350" y="6894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기준정보 프로세스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81150-6C59-972D-DB69-0805A4175412}"/>
              </a:ext>
            </a:extLst>
          </p:cNvPr>
          <p:cNvSpPr txBox="1"/>
          <p:nvPr/>
        </p:nvSpPr>
        <p:spPr>
          <a:xfrm>
            <a:off x="812799" y="1053920"/>
            <a:ext cx="11017251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기 구축 활용되고 있는 기준정보를 최대한 재활용하여 기준정보 관리를 일원화하고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미흡한 기준정보는 재설계하여 시스템간</a:t>
            </a:r>
            <a:r>
              <a:rPr lang="en-US" altLang="ko-KR" sz="1400" dirty="0"/>
              <a:t>,</a:t>
            </a:r>
            <a:r>
              <a:rPr lang="ko-KR" altLang="en-US" sz="1400" dirty="0"/>
              <a:t>조직간 의사소통 및 정보의 일원화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08B0FE0-C347-C308-8410-D95B5FAB172F}"/>
              </a:ext>
            </a:extLst>
          </p:cNvPr>
          <p:cNvGrpSpPr/>
          <p:nvPr/>
        </p:nvGrpSpPr>
        <p:grpSpPr>
          <a:xfrm>
            <a:off x="133350" y="2135808"/>
            <a:ext cx="11931650" cy="4226892"/>
            <a:chOff x="133350" y="2040558"/>
            <a:chExt cx="11931650" cy="4226892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14355615-D47B-DFDC-C648-DF4585063582}"/>
                </a:ext>
              </a:extLst>
            </p:cNvPr>
            <p:cNvSpPr/>
            <p:nvPr/>
          </p:nvSpPr>
          <p:spPr>
            <a:xfrm>
              <a:off x="729673" y="2040558"/>
              <a:ext cx="10732654" cy="4067753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D161DB0-A864-E7E0-2E8D-E20250802606}"/>
                </a:ext>
              </a:extLst>
            </p:cNvPr>
            <p:cNvSpPr/>
            <p:nvPr/>
          </p:nvSpPr>
          <p:spPr>
            <a:xfrm>
              <a:off x="3188331" y="3078868"/>
              <a:ext cx="5704313" cy="2572631"/>
            </a:xfrm>
            <a:prstGeom prst="roundRect">
              <a:avLst>
                <a:gd name="adj" fmla="val 5220"/>
              </a:avLst>
            </a:prstGeom>
            <a:solidFill>
              <a:srgbClr val="93A4D9">
                <a:alpha val="46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4B133511-C6F4-D716-B1DE-12ECC84BA801}"/>
                </a:ext>
              </a:extLst>
            </p:cNvPr>
            <p:cNvCxnSpPr/>
            <p:nvPr/>
          </p:nvCxnSpPr>
          <p:spPr>
            <a:xfrm>
              <a:off x="133350" y="6267450"/>
              <a:ext cx="11931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7709132-1612-392E-7D14-BE99DC32D844}"/>
                </a:ext>
              </a:extLst>
            </p:cNvPr>
            <p:cNvSpPr/>
            <p:nvPr/>
          </p:nvSpPr>
          <p:spPr>
            <a:xfrm>
              <a:off x="1244600" y="2639884"/>
              <a:ext cx="1092200" cy="7732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8A451D1-4841-7AAB-4F6A-5DDD9F9FB3E1}"/>
                </a:ext>
              </a:extLst>
            </p:cNvPr>
            <p:cNvSpPr/>
            <p:nvPr/>
          </p:nvSpPr>
          <p:spPr>
            <a:xfrm>
              <a:off x="1244600" y="4167059"/>
              <a:ext cx="1092200" cy="7732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202DC4E-E9CB-9CFC-28B5-3481A99EEEBE}"/>
                </a:ext>
              </a:extLst>
            </p:cNvPr>
            <p:cNvSpPr txBox="1"/>
            <p:nvPr/>
          </p:nvSpPr>
          <p:spPr>
            <a:xfrm>
              <a:off x="1167845" y="2889116"/>
              <a:ext cx="126989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ERP </a:t>
              </a:r>
              <a:r>
                <a:rPr lang="ko-KR" altLang="en-US" sz="1400" dirty="0"/>
                <a:t>기준정보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211862-14EF-63BF-0ED7-526FE29E37AF}"/>
                </a:ext>
              </a:extLst>
            </p:cNvPr>
            <p:cNvSpPr txBox="1"/>
            <p:nvPr/>
          </p:nvSpPr>
          <p:spPr>
            <a:xfrm>
              <a:off x="1392194" y="4299634"/>
              <a:ext cx="90281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신규생성</a:t>
              </a:r>
              <a:endParaRPr lang="en-US" altLang="ko-KR" sz="1400" dirty="0"/>
            </a:p>
            <a:p>
              <a:r>
                <a:rPr lang="ko-KR" altLang="en-US" sz="1400" dirty="0"/>
                <a:t>기준정보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83F38A2-7E48-6AC7-04FD-AC3C6098EA89}"/>
                </a:ext>
              </a:extLst>
            </p:cNvPr>
            <p:cNvSpPr/>
            <p:nvPr/>
          </p:nvSpPr>
          <p:spPr>
            <a:xfrm>
              <a:off x="9619965" y="3141419"/>
              <a:ext cx="1481282" cy="85925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890D9B-2A36-B989-33F0-8B5B1EA3D76C}"/>
                </a:ext>
              </a:extLst>
            </p:cNvPr>
            <p:cNvSpPr txBox="1"/>
            <p:nvPr/>
          </p:nvSpPr>
          <p:spPr>
            <a:xfrm>
              <a:off x="9762092" y="3448152"/>
              <a:ext cx="125515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3E5AB4"/>
                  </a:solidFill>
                </a:rPr>
                <a:t>생산계획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F7A4F9E-3DCA-324D-FE29-3B20BF1851A6}"/>
                </a:ext>
              </a:extLst>
            </p:cNvPr>
            <p:cNvSpPr/>
            <p:nvPr/>
          </p:nvSpPr>
          <p:spPr>
            <a:xfrm>
              <a:off x="9619965" y="2162642"/>
              <a:ext cx="1481282" cy="85925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3B316BF-1462-9CAA-B901-5B3BC6C83029}"/>
                </a:ext>
              </a:extLst>
            </p:cNvPr>
            <p:cNvSpPr txBox="1"/>
            <p:nvPr/>
          </p:nvSpPr>
          <p:spPr>
            <a:xfrm>
              <a:off x="9776860" y="2469375"/>
              <a:ext cx="12403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3E5AB4"/>
                  </a:solidFill>
                </a:rPr>
                <a:t>생산관리</a:t>
              </a: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E5F30AE4-082E-66BF-5D99-343B913B9611}"/>
                </a:ext>
              </a:extLst>
            </p:cNvPr>
            <p:cNvSpPr/>
            <p:nvPr/>
          </p:nvSpPr>
          <p:spPr>
            <a:xfrm>
              <a:off x="9619965" y="4120196"/>
              <a:ext cx="1481282" cy="85925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C8281F-5DC2-83DD-7BC9-633A079DA3A0}"/>
                </a:ext>
              </a:extLst>
            </p:cNvPr>
            <p:cNvSpPr txBox="1"/>
            <p:nvPr/>
          </p:nvSpPr>
          <p:spPr>
            <a:xfrm>
              <a:off x="9776860" y="4426929"/>
              <a:ext cx="117053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3E5AB4"/>
                  </a:solidFill>
                </a:rPr>
                <a:t>자재재고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F5AD99-44BA-9A9D-78B4-06C3FA0D7981}"/>
                </a:ext>
              </a:extLst>
            </p:cNvPr>
            <p:cNvSpPr txBox="1"/>
            <p:nvPr/>
          </p:nvSpPr>
          <p:spPr>
            <a:xfrm>
              <a:off x="2295005" y="3314860"/>
              <a:ext cx="380232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I/F</a:t>
              </a:r>
              <a:endParaRPr lang="ko-KR" altLang="en-US" sz="12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CC2ECB9-4B1E-9A3D-AF69-541D64B27092}"/>
                </a:ext>
              </a:extLst>
            </p:cNvPr>
            <p:cNvSpPr txBox="1"/>
            <p:nvPr/>
          </p:nvSpPr>
          <p:spPr>
            <a:xfrm>
              <a:off x="8976641" y="3772827"/>
              <a:ext cx="800219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활용정보</a:t>
              </a:r>
            </a:p>
          </p:txBody>
        </p:sp>
        <p:sp>
          <p:nvSpPr>
            <p:cNvPr id="30" name="화살표: 오른쪽 29">
              <a:extLst>
                <a:ext uri="{FF2B5EF4-FFF2-40B4-BE49-F238E27FC236}">
                  <a16:creationId xmlns:a16="http://schemas.microsoft.com/office/drawing/2014/main" id="{D518A50E-27A6-308E-9F7B-E226243EE477}"/>
                </a:ext>
              </a:extLst>
            </p:cNvPr>
            <p:cNvSpPr/>
            <p:nvPr/>
          </p:nvSpPr>
          <p:spPr>
            <a:xfrm rot="1734766">
              <a:off x="2463800" y="3162300"/>
              <a:ext cx="408414" cy="245491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1A4B604D-7C29-F3E5-74C6-A7AE7F2DE680}"/>
                </a:ext>
              </a:extLst>
            </p:cNvPr>
            <p:cNvSpPr/>
            <p:nvPr/>
          </p:nvSpPr>
          <p:spPr>
            <a:xfrm rot="19865234" flipV="1">
              <a:off x="2463800" y="4283273"/>
              <a:ext cx="408414" cy="245491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C9DF9AA0-0E30-1425-549C-838B571744E4}"/>
                </a:ext>
              </a:extLst>
            </p:cNvPr>
            <p:cNvSpPr/>
            <p:nvPr/>
          </p:nvSpPr>
          <p:spPr>
            <a:xfrm rot="19876442">
              <a:off x="9137734" y="3217431"/>
              <a:ext cx="408414" cy="245491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A5C0A19D-DF00-12C9-0A32-EE2A42AC5F5A}"/>
                </a:ext>
              </a:extLst>
            </p:cNvPr>
            <p:cNvSpPr/>
            <p:nvPr/>
          </p:nvSpPr>
          <p:spPr>
            <a:xfrm rot="1723558" flipV="1">
              <a:off x="9137734" y="4396371"/>
              <a:ext cx="408414" cy="245491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C81D36B5-CEEE-B5EC-062A-7A5E7AB54A61}"/>
                </a:ext>
              </a:extLst>
            </p:cNvPr>
            <p:cNvSpPr/>
            <p:nvPr/>
          </p:nvSpPr>
          <p:spPr>
            <a:xfrm>
              <a:off x="9619965" y="5098973"/>
              <a:ext cx="1481282" cy="85925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71E4A16-0DD0-6139-702D-8A320F613747}"/>
                </a:ext>
              </a:extLst>
            </p:cNvPr>
            <p:cNvSpPr txBox="1"/>
            <p:nvPr/>
          </p:nvSpPr>
          <p:spPr>
            <a:xfrm>
              <a:off x="9776861" y="5278706"/>
              <a:ext cx="117053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3E5AB4"/>
                  </a:solidFill>
                </a:rPr>
                <a:t>현황정보</a:t>
              </a:r>
              <a:endParaRPr lang="en-US" altLang="ko-KR" sz="1400" b="1" dirty="0">
                <a:solidFill>
                  <a:srgbClr val="3E5AB4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rgbClr val="3E5AB4"/>
                  </a:solidFill>
                </a:rPr>
                <a:t>분석정보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67C67FF8-9F0D-B8CC-A975-90AA07FB8E46}"/>
                </a:ext>
              </a:extLst>
            </p:cNvPr>
            <p:cNvSpPr/>
            <p:nvPr/>
          </p:nvSpPr>
          <p:spPr>
            <a:xfrm>
              <a:off x="4332460" y="2196492"/>
              <a:ext cx="3343675" cy="400052"/>
            </a:xfrm>
            <a:prstGeom prst="roundRect">
              <a:avLst>
                <a:gd name="adj" fmla="val 50000"/>
              </a:avLst>
            </a:prstGeom>
            <a:solidFill>
              <a:srgbClr val="344C9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기준정보 시스템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C637C57-66F4-1C10-C423-4CB28BE81E52}"/>
                </a:ext>
              </a:extLst>
            </p:cNvPr>
            <p:cNvSpPr txBox="1"/>
            <p:nvPr/>
          </p:nvSpPr>
          <p:spPr>
            <a:xfrm>
              <a:off x="2295005" y="4568219"/>
              <a:ext cx="800219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신규입력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57E2FB4-1C48-C843-A2AC-B2E6042D872A}"/>
                </a:ext>
              </a:extLst>
            </p:cNvPr>
            <p:cNvSpPr txBox="1"/>
            <p:nvPr/>
          </p:nvSpPr>
          <p:spPr>
            <a:xfrm>
              <a:off x="4131638" y="3470877"/>
              <a:ext cx="186960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sz="1400" b="1" dirty="0"/>
                <a:t>BOM </a:t>
              </a:r>
              <a:r>
                <a:rPr lang="ko-KR" altLang="en-US" sz="1400" b="1" dirty="0"/>
                <a:t>정보</a:t>
              </a:r>
              <a:endParaRPr lang="ko-KR" altLang="en-US" sz="14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DCBB761-D6CC-9BF5-68F0-5D713AA7828F}"/>
                </a:ext>
              </a:extLst>
            </p:cNvPr>
            <p:cNvSpPr txBox="1"/>
            <p:nvPr/>
          </p:nvSpPr>
          <p:spPr>
            <a:xfrm>
              <a:off x="4131637" y="4219163"/>
              <a:ext cx="186960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ko-KR" altLang="en-US" sz="1400" b="1" dirty="0"/>
                <a:t>제품</a:t>
              </a:r>
              <a:r>
                <a:rPr lang="en-US" altLang="ko-KR" sz="1400" b="1" dirty="0"/>
                <a:t> </a:t>
              </a:r>
              <a:r>
                <a:rPr lang="ko-KR" altLang="en-US" sz="1400" b="1" dirty="0"/>
                <a:t>정보</a:t>
              </a:r>
              <a:endParaRPr lang="ko-KR" altLang="en-US" sz="14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F223304-E854-3868-75B4-347415949E87}"/>
                </a:ext>
              </a:extLst>
            </p:cNvPr>
            <p:cNvSpPr txBox="1"/>
            <p:nvPr/>
          </p:nvSpPr>
          <p:spPr>
            <a:xfrm>
              <a:off x="4131637" y="4967449"/>
              <a:ext cx="186960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ko-KR" altLang="en-US" sz="1400" b="1" dirty="0"/>
                <a:t>자재</a:t>
              </a:r>
              <a:r>
                <a:rPr lang="en-US" altLang="ko-KR" sz="1400" b="1" dirty="0"/>
                <a:t> </a:t>
              </a:r>
              <a:r>
                <a:rPr lang="ko-KR" altLang="en-US" sz="1400" b="1" dirty="0"/>
                <a:t>정보</a:t>
              </a:r>
              <a:endParaRPr lang="ko-KR" altLang="en-US" sz="14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E275766-4E8A-8F43-4788-F77AA2D6F5F7}"/>
                </a:ext>
              </a:extLst>
            </p:cNvPr>
            <p:cNvSpPr txBox="1"/>
            <p:nvPr/>
          </p:nvSpPr>
          <p:spPr>
            <a:xfrm>
              <a:off x="6067892" y="3470877"/>
              <a:ext cx="186960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ko-KR" altLang="en-US" sz="1400" b="1" dirty="0"/>
                <a:t>설비</a:t>
              </a:r>
              <a:r>
                <a:rPr lang="en-US" altLang="ko-KR" sz="1400" b="1" dirty="0"/>
                <a:t> </a:t>
              </a:r>
              <a:r>
                <a:rPr lang="ko-KR" altLang="en-US" sz="1400" b="1" dirty="0"/>
                <a:t>정보</a:t>
              </a:r>
              <a:endParaRPr lang="ko-KR" altLang="en-US" sz="1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9579578-301C-0275-358E-98871A574E23}"/>
                </a:ext>
              </a:extLst>
            </p:cNvPr>
            <p:cNvSpPr txBox="1"/>
            <p:nvPr/>
          </p:nvSpPr>
          <p:spPr>
            <a:xfrm>
              <a:off x="6067893" y="4219163"/>
              <a:ext cx="186960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ko-KR" altLang="en-US" sz="1400" b="1" dirty="0"/>
                <a:t>작업자</a:t>
              </a:r>
              <a:r>
                <a:rPr lang="en-US" altLang="ko-KR" sz="1400" b="1" dirty="0"/>
                <a:t> </a:t>
              </a:r>
              <a:r>
                <a:rPr lang="ko-KR" altLang="en-US" sz="1400" b="1" dirty="0"/>
                <a:t>정보</a:t>
              </a:r>
              <a:endParaRPr lang="ko-KR" altLang="en-US" sz="14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23273B2-56FC-6BD0-8275-7F322E7BE1C6}"/>
                </a:ext>
              </a:extLst>
            </p:cNvPr>
            <p:cNvSpPr txBox="1"/>
            <p:nvPr/>
          </p:nvSpPr>
          <p:spPr>
            <a:xfrm>
              <a:off x="6067892" y="4967449"/>
              <a:ext cx="186960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ko-KR" altLang="en-US" sz="1400" b="1" dirty="0"/>
                <a:t>제품</a:t>
              </a:r>
              <a:r>
                <a:rPr lang="en-US" altLang="ko-KR" sz="1400" b="1" dirty="0"/>
                <a:t>/</a:t>
              </a:r>
              <a:r>
                <a:rPr lang="ko-KR" altLang="en-US" sz="1400" b="1" dirty="0"/>
                <a:t>설비 </a:t>
              </a:r>
              <a:r>
                <a:rPr lang="en-US" altLang="ko-KR" sz="1400" b="1" dirty="0"/>
                <a:t>L/T </a:t>
              </a:r>
              <a:r>
                <a:rPr lang="ko-KR" altLang="en-US" sz="1400" b="1" dirty="0"/>
                <a:t>정보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16446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F0661B5F-6A00-F397-4CFB-E6CFE37628DC}"/>
              </a:ext>
            </a:extLst>
          </p:cNvPr>
          <p:cNvGrpSpPr/>
          <p:nvPr/>
        </p:nvGrpSpPr>
        <p:grpSpPr>
          <a:xfrm>
            <a:off x="133350" y="2135808"/>
            <a:ext cx="11931650" cy="4226892"/>
            <a:chOff x="133350" y="2040558"/>
            <a:chExt cx="11931650" cy="4226892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0F01DCF-C712-0E91-567B-95E07B79556B}"/>
                </a:ext>
              </a:extLst>
            </p:cNvPr>
            <p:cNvSpPr/>
            <p:nvPr/>
          </p:nvSpPr>
          <p:spPr>
            <a:xfrm>
              <a:off x="729673" y="2040558"/>
              <a:ext cx="10732654" cy="4067753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ABFB2D4-6DEC-7C63-91EA-A8D142EB6EA7}"/>
                </a:ext>
              </a:extLst>
            </p:cNvPr>
            <p:cNvCxnSpPr/>
            <p:nvPr/>
          </p:nvCxnSpPr>
          <p:spPr>
            <a:xfrm>
              <a:off x="133350" y="6267450"/>
              <a:ext cx="11931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106FB8A-FFD6-A7B7-44E3-664E0F315E14}"/>
                </a:ext>
              </a:extLst>
            </p:cNvPr>
            <p:cNvSpPr/>
            <p:nvPr/>
          </p:nvSpPr>
          <p:spPr>
            <a:xfrm>
              <a:off x="1244600" y="3027234"/>
              <a:ext cx="1092200" cy="7732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F58EFA4-8094-0632-ED5D-F1D6F55A026D}"/>
                </a:ext>
              </a:extLst>
            </p:cNvPr>
            <p:cNvSpPr/>
            <p:nvPr/>
          </p:nvSpPr>
          <p:spPr>
            <a:xfrm>
              <a:off x="1244600" y="4833809"/>
              <a:ext cx="1092200" cy="7732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3DAE46-3B56-D850-77C0-AA09372C7CD5}"/>
                </a:ext>
              </a:extLst>
            </p:cNvPr>
            <p:cNvSpPr txBox="1"/>
            <p:nvPr/>
          </p:nvSpPr>
          <p:spPr>
            <a:xfrm>
              <a:off x="1339294" y="3276466"/>
              <a:ext cx="9036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/>
                <a:t>주요자재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64176A2-9194-DCA4-8ECF-6D534810EC22}"/>
                </a:ext>
              </a:extLst>
            </p:cNvPr>
            <p:cNvSpPr txBox="1"/>
            <p:nvPr/>
          </p:nvSpPr>
          <p:spPr>
            <a:xfrm>
              <a:off x="1392194" y="5074334"/>
              <a:ext cx="9036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금형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270FB60E-7DB0-5D52-1479-43017F23E3B1}"/>
                </a:ext>
              </a:extLst>
            </p:cNvPr>
            <p:cNvSpPr/>
            <p:nvPr/>
          </p:nvSpPr>
          <p:spPr>
            <a:xfrm>
              <a:off x="9619965" y="3141419"/>
              <a:ext cx="1481282" cy="85925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81ECFBD-D0F4-DE7A-6A65-4388B52C04BD}"/>
                </a:ext>
              </a:extLst>
            </p:cNvPr>
            <p:cNvSpPr txBox="1"/>
            <p:nvPr/>
          </p:nvSpPr>
          <p:spPr>
            <a:xfrm>
              <a:off x="9819432" y="3410052"/>
              <a:ext cx="1082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rgbClr val="3E5AB4"/>
                  </a:solidFill>
                </a:rPr>
                <a:t>원자재수급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B7DB101-C2A1-F9A8-50D3-8F62FAA5E05E}"/>
                </a:ext>
              </a:extLst>
            </p:cNvPr>
            <p:cNvSpPr/>
            <p:nvPr/>
          </p:nvSpPr>
          <p:spPr>
            <a:xfrm>
              <a:off x="9619965" y="2162642"/>
              <a:ext cx="1481282" cy="85925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B7D3C8-849E-9B0D-4D44-F9F40B6CBF0A}"/>
                </a:ext>
              </a:extLst>
            </p:cNvPr>
            <p:cNvSpPr txBox="1"/>
            <p:nvPr/>
          </p:nvSpPr>
          <p:spPr>
            <a:xfrm>
              <a:off x="9729664" y="2469375"/>
              <a:ext cx="12618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rgbClr val="3E5AB4"/>
                  </a:solidFill>
                </a:rPr>
                <a:t>계획대비실적</a:t>
              </a: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591A500-BF56-B9AE-C462-720FEC3FFACD}"/>
                </a:ext>
              </a:extLst>
            </p:cNvPr>
            <p:cNvSpPr/>
            <p:nvPr/>
          </p:nvSpPr>
          <p:spPr>
            <a:xfrm>
              <a:off x="9619965" y="4120196"/>
              <a:ext cx="1481282" cy="85925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57200F-D1C0-4FB0-26D9-1479278A986E}"/>
                </a:ext>
              </a:extLst>
            </p:cNvPr>
            <p:cNvSpPr txBox="1"/>
            <p:nvPr/>
          </p:nvSpPr>
          <p:spPr>
            <a:xfrm>
              <a:off x="9928251" y="4382479"/>
              <a:ext cx="9028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rgbClr val="3E5AB4"/>
                  </a:solidFill>
                </a:rPr>
                <a:t>제고정보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5C6485-2FC6-3458-1205-3697B6358DA5}"/>
                </a:ext>
              </a:extLst>
            </p:cNvPr>
            <p:cNvSpPr txBox="1"/>
            <p:nvPr/>
          </p:nvSpPr>
          <p:spPr>
            <a:xfrm>
              <a:off x="1698986" y="4121856"/>
              <a:ext cx="1008609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창고 </a:t>
              </a:r>
              <a:r>
                <a:rPr lang="ko-KR" altLang="en-US" sz="1200" b="1" dirty="0" err="1"/>
                <a:t>반출입</a:t>
              </a:r>
              <a:endParaRPr lang="ko-KR" altLang="en-US" sz="12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F245F53-2679-9EDE-9A57-3B3EA30BC1EA}"/>
                </a:ext>
              </a:extLst>
            </p:cNvPr>
            <p:cNvSpPr txBox="1"/>
            <p:nvPr/>
          </p:nvSpPr>
          <p:spPr>
            <a:xfrm>
              <a:off x="8976641" y="3772827"/>
              <a:ext cx="800219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활용정보</a:t>
              </a:r>
            </a:p>
          </p:txBody>
        </p:sp>
        <p:sp>
          <p:nvSpPr>
            <p:cNvPr id="30" name="화살표: 오른쪽 29">
              <a:extLst>
                <a:ext uri="{FF2B5EF4-FFF2-40B4-BE49-F238E27FC236}">
                  <a16:creationId xmlns:a16="http://schemas.microsoft.com/office/drawing/2014/main" id="{6AE05C39-C2DE-54B4-DD32-FDAC6EC68C54}"/>
                </a:ext>
              </a:extLst>
            </p:cNvPr>
            <p:cNvSpPr/>
            <p:nvPr/>
          </p:nvSpPr>
          <p:spPr>
            <a:xfrm rot="1734766">
              <a:off x="2463800" y="3333750"/>
              <a:ext cx="408414" cy="245491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6910EC3D-29F8-7B7A-A51D-5F9D768021DA}"/>
                </a:ext>
              </a:extLst>
            </p:cNvPr>
            <p:cNvSpPr/>
            <p:nvPr/>
          </p:nvSpPr>
          <p:spPr>
            <a:xfrm rot="19865234" flipV="1">
              <a:off x="2463800" y="4950023"/>
              <a:ext cx="408414" cy="245491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42F9186E-98FB-9AC9-3ECD-8F92CD62DED0}"/>
                </a:ext>
              </a:extLst>
            </p:cNvPr>
            <p:cNvSpPr/>
            <p:nvPr/>
          </p:nvSpPr>
          <p:spPr>
            <a:xfrm rot="19876442">
              <a:off x="9137734" y="3217431"/>
              <a:ext cx="408414" cy="245491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D6E0D311-7616-5572-DD08-88791C3527BB}"/>
                </a:ext>
              </a:extLst>
            </p:cNvPr>
            <p:cNvSpPr/>
            <p:nvPr/>
          </p:nvSpPr>
          <p:spPr>
            <a:xfrm rot="1723558" flipV="1">
              <a:off x="9137734" y="4396371"/>
              <a:ext cx="408414" cy="245491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4C270747-C609-A138-A4E1-84618AACF023}"/>
                </a:ext>
              </a:extLst>
            </p:cNvPr>
            <p:cNvSpPr/>
            <p:nvPr/>
          </p:nvSpPr>
          <p:spPr>
            <a:xfrm>
              <a:off x="9619965" y="5098973"/>
              <a:ext cx="1481282" cy="85925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A6183AB-0D94-9374-D56E-0E3D56DA607B}"/>
                </a:ext>
              </a:extLst>
            </p:cNvPr>
            <p:cNvSpPr txBox="1"/>
            <p:nvPr/>
          </p:nvSpPr>
          <p:spPr>
            <a:xfrm>
              <a:off x="9737751" y="5405706"/>
              <a:ext cx="12618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err="1">
                  <a:solidFill>
                    <a:srgbClr val="3E5AB4"/>
                  </a:solidFill>
                </a:rPr>
                <a:t>금형위치정보</a:t>
              </a:r>
              <a:endParaRPr lang="ko-KR" altLang="en-US" sz="1400" b="1" dirty="0">
                <a:solidFill>
                  <a:srgbClr val="3E5AB4"/>
                </a:solidFill>
              </a:endParaRP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974648C8-0665-8A25-C509-2714D8219425}"/>
                </a:ext>
              </a:extLst>
            </p:cNvPr>
            <p:cNvSpPr/>
            <p:nvPr/>
          </p:nvSpPr>
          <p:spPr>
            <a:xfrm>
              <a:off x="4332460" y="2196492"/>
              <a:ext cx="3343675" cy="400052"/>
            </a:xfrm>
            <a:prstGeom prst="roundRect">
              <a:avLst>
                <a:gd name="adj" fmla="val 50000"/>
              </a:avLst>
            </a:prstGeom>
            <a:solidFill>
              <a:srgbClr val="344C9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라인內 자재 시스템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2F52B9-BCC6-F834-88D8-4754BB02A3C0}"/>
                </a:ext>
              </a:extLst>
            </p:cNvPr>
            <p:cNvSpPr txBox="1"/>
            <p:nvPr/>
          </p:nvSpPr>
          <p:spPr>
            <a:xfrm>
              <a:off x="2574888" y="4618636"/>
              <a:ext cx="5536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/>
                <a:t>PDA</a:t>
              </a:r>
              <a:endParaRPr lang="ko-KR" altLang="en-US" sz="1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222BB2B-D0BC-77F6-2CA7-C205B3E4046E}"/>
                </a:ext>
              </a:extLst>
            </p:cNvPr>
            <p:cNvSpPr txBox="1"/>
            <p:nvPr/>
          </p:nvSpPr>
          <p:spPr>
            <a:xfrm>
              <a:off x="5790432" y="4783505"/>
              <a:ext cx="5536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/>
                <a:t>PDA</a:t>
              </a:r>
              <a:endParaRPr lang="ko-KR" altLang="en-US" sz="1400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BC4DC06-5742-2A1C-1D64-8A8DF191FC5E}"/>
              </a:ext>
            </a:extLst>
          </p:cNvPr>
          <p:cNvSpPr txBox="1"/>
          <p:nvPr/>
        </p:nvSpPr>
        <p:spPr>
          <a:xfrm>
            <a:off x="247650" y="129659"/>
            <a:ext cx="4464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3E5AB4"/>
                </a:solidFill>
                <a:latin typeface="+mn-ea"/>
              </a:rPr>
              <a:t>02.</a:t>
            </a:r>
            <a:r>
              <a:rPr lang="ko-KR" altLang="en-US" sz="1800" b="1" dirty="0">
                <a:solidFill>
                  <a:srgbClr val="3E5AB4"/>
                </a:solidFill>
                <a:latin typeface="+mn-ea"/>
              </a:rPr>
              <a:t> 제안 내용</a:t>
            </a:r>
            <a:endParaRPr lang="ko-KR" altLang="en-US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C7240A-529E-F397-C4BA-61D8B3825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98" y="3827728"/>
            <a:ext cx="1014316" cy="8694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937DB2-9905-E9E7-EBC3-14DBFE587797}"/>
              </a:ext>
            </a:extLst>
          </p:cNvPr>
          <p:cNvSpPr txBox="1"/>
          <p:nvPr/>
        </p:nvSpPr>
        <p:spPr>
          <a:xfrm>
            <a:off x="514350" y="6894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자재관리 프로세스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7BDB6B6-8F1B-E994-ED32-8A5A35A39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036" y="3543402"/>
            <a:ext cx="1361914" cy="1626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16A10E3-3143-16C6-6B8D-CF40B30D8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509" y="3530446"/>
            <a:ext cx="1159218" cy="166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CC599B03-599D-AB9E-05A7-F1BD017DC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338" y="4322191"/>
            <a:ext cx="649324" cy="5565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80AD9B-CEB9-2AC2-65B8-B738A9D5732A}"/>
              </a:ext>
            </a:extLst>
          </p:cNvPr>
          <p:cNvSpPr txBox="1"/>
          <p:nvPr/>
        </p:nvSpPr>
        <p:spPr>
          <a:xfrm>
            <a:off x="812799" y="1053920"/>
            <a:ext cx="11017251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라인內 주요 자재 및 금형의 반입</a:t>
            </a:r>
            <a:r>
              <a:rPr lang="en-US" altLang="ko-KR" sz="1400" dirty="0"/>
              <a:t>,</a:t>
            </a:r>
            <a:r>
              <a:rPr lang="ko-KR" altLang="en-US" sz="1400" dirty="0"/>
              <a:t>반출 관리를 통해서 실물과 장부 정보 일치화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실시간 주요 자재 현황 정보 제공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금형의 위치정보를 시스템을 통해서 관리</a:t>
            </a:r>
            <a:endParaRPr lang="en-US" altLang="ko-KR" sz="1400" dirty="0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BA917DDD-920B-DAFA-CCCE-5ADA1A015375}"/>
              </a:ext>
            </a:extLst>
          </p:cNvPr>
          <p:cNvSpPr/>
          <p:nvPr/>
        </p:nvSpPr>
        <p:spPr>
          <a:xfrm>
            <a:off x="3841750" y="4076700"/>
            <a:ext cx="408414" cy="24549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5EE624B4-1E14-1007-ACD3-038AFD60B7E2}"/>
              </a:ext>
            </a:extLst>
          </p:cNvPr>
          <p:cNvSpPr/>
          <p:nvPr/>
        </p:nvSpPr>
        <p:spPr>
          <a:xfrm>
            <a:off x="5943510" y="4076700"/>
            <a:ext cx="408414" cy="24549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7DF50AC-89BE-7495-95E1-FE8FF974FFC5}"/>
              </a:ext>
            </a:extLst>
          </p:cNvPr>
          <p:cNvSpPr/>
          <p:nvPr/>
        </p:nvSpPr>
        <p:spPr>
          <a:xfrm>
            <a:off x="3188331" y="3174118"/>
            <a:ext cx="5704313" cy="2572631"/>
          </a:xfrm>
          <a:prstGeom prst="roundRect">
            <a:avLst>
              <a:gd name="adj" fmla="val 5220"/>
            </a:avLst>
          </a:prstGeom>
          <a:solidFill>
            <a:srgbClr val="93A4D9">
              <a:alpha val="46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7626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A153-8D03-2357-6C4D-F701DF5C1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9BB572-74A5-A5EF-D0B4-6CE76FBC247D}"/>
              </a:ext>
            </a:extLst>
          </p:cNvPr>
          <p:cNvSpPr txBox="1"/>
          <p:nvPr/>
        </p:nvSpPr>
        <p:spPr>
          <a:xfrm>
            <a:off x="247650" y="129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3E5AB4"/>
                </a:solidFill>
                <a:latin typeface="+mn-ea"/>
              </a:rPr>
              <a:t>02.</a:t>
            </a:r>
            <a:r>
              <a:rPr lang="ko-KR" altLang="en-US" sz="1800" b="1" dirty="0">
                <a:solidFill>
                  <a:srgbClr val="3E5AB4"/>
                </a:solidFill>
                <a:latin typeface="+mn-ea"/>
              </a:rPr>
              <a:t> 제안 내용</a:t>
            </a:r>
            <a:endParaRPr lang="ko-KR" altLang="en-US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33BD2-181F-8FC7-A27E-F21A9849F7E7}"/>
              </a:ext>
            </a:extLst>
          </p:cNvPr>
          <p:cNvSpPr txBox="1"/>
          <p:nvPr/>
        </p:nvSpPr>
        <p:spPr>
          <a:xfrm>
            <a:off x="514350" y="6894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생산관리 프로세스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EB0B2-3068-7A93-7F52-7536607FAFCE}"/>
              </a:ext>
            </a:extLst>
          </p:cNvPr>
          <p:cNvSpPr txBox="1"/>
          <p:nvPr/>
        </p:nvSpPr>
        <p:spPr>
          <a:xfrm>
            <a:off x="812799" y="1053920"/>
            <a:ext cx="1101725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설비에 </a:t>
            </a:r>
            <a:r>
              <a:rPr lang="en-US" altLang="ko-KR" sz="1400" dirty="0"/>
              <a:t>Track </a:t>
            </a:r>
            <a:r>
              <a:rPr lang="en-US" altLang="ko-KR" sz="1400" dirty="0" err="1"/>
              <a:t>In,Track</a:t>
            </a:r>
            <a:r>
              <a:rPr lang="en-US" altLang="ko-KR" sz="1400" dirty="0"/>
              <a:t> Out </a:t>
            </a:r>
            <a:r>
              <a:rPr lang="ko-KR" altLang="en-US" sz="1400" dirty="0"/>
              <a:t>정보를 실시간 관리</a:t>
            </a:r>
            <a:r>
              <a:rPr lang="en-US" altLang="ko-KR" sz="1400" dirty="0"/>
              <a:t>-&gt;L/F </a:t>
            </a:r>
            <a:r>
              <a:rPr lang="ko-KR" altLang="en-US" sz="1400" dirty="0"/>
              <a:t>자동 산정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생산에 필요한 주요 자재정보를 제공</a:t>
            </a:r>
            <a:r>
              <a:rPr lang="en-US" altLang="ko-KR" sz="1400" dirty="0"/>
              <a:t>(</a:t>
            </a:r>
            <a:r>
              <a:rPr lang="ko-KR" altLang="en-US" sz="1400" dirty="0"/>
              <a:t>현 장소에 가용할 자재가 있는지 정보제공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공정진척도 관리</a:t>
            </a:r>
            <a:r>
              <a:rPr lang="en-US" altLang="ko-KR" sz="1400" dirty="0"/>
              <a:t>, </a:t>
            </a:r>
            <a:r>
              <a:rPr lang="ko-KR" altLang="en-US" sz="1400" dirty="0"/>
              <a:t>예상완료일 정보 제공</a:t>
            </a:r>
            <a:endParaRPr lang="en-US" altLang="ko-KR" sz="1400" dirty="0"/>
          </a:p>
          <a:p>
            <a:endParaRPr lang="ko-KR" altLang="en-US" sz="14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B5CD00F-044B-C771-F79C-66C1C4C1625D}"/>
              </a:ext>
            </a:extLst>
          </p:cNvPr>
          <p:cNvGrpSpPr/>
          <p:nvPr/>
        </p:nvGrpSpPr>
        <p:grpSpPr>
          <a:xfrm>
            <a:off x="133350" y="2135808"/>
            <a:ext cx="11931650" cy="4226892"/>
            <a:chOff x="133350" y="2040558"/>
            <a:chExt cx="11931650" cy="4226892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04419807-F8ED-4A0B-208F-DBAC685BC52E}"/>
                </a:ext>
              </a:extLst>
            </p:cNvPr>
            <p:cNvSpPr/>
            <p:nvPr/>
          </p:nvSpPr>
          <p:spPr>
            <a:xfrm>
              <a:off x="729673" y="2040558"/>
              <a:ext cx="10732654" cy="4067753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13E98402-0AF9-8340-7BDC-D28D396BBC68}"/>
                </a:ext>
              </a:extLst>
            </p:cNvPr>
            <p:cNvCxnSpPr/>
            <p:nvPr/>
          </p:nvCxnSpPr>
          <p:spPr>
            <a:xfrm>
              <a:off x="133350" y="6267450"/>
              <a:ext cx="119316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9D962A6-A945-CD85-A53C-540E9E518A6B}"/>
                </a:ext>
              </a:extLst>
            </p:cNvPr>
            <p:cNvSpPr/>
            <p:nvPr/>
          </p:nvSpPr>
          <p:spPr>
            <a:xfrm>
              <a:off x="4380626" y="2263636"/>
              <a:ext cx="3430747" cy="5333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E08600F-B81E-11E2-D57E-64E4BF07A111}"/>
                </a:ext>
              </a:extLst>
            </p:cNvPr>
            <p:cNvSpPr/>
            <p:nvPr/>
          </p:nvSpPr>
          <p:spPr>
            <a:xfrm>
              <a:off x="9619965" y="3141419"/>
              <a:ext cx="1481282" cy="85925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5281B2-DE64-BC06-5511-402CFD60192B}"/>
                </a:ext>
              </a:extLst>
            </p:cNvPr>
            <p:cNvSpPr txBox="1"/>
            <p:nvPr/>
          </p:nvSpPr>
          <p:spPr>
            <a:xfrm>
              <a:off x="9819432" y="3448152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3E5AB4"/>
                  </a:solidFill>
                </a:rPr>
                <a:t>원자재수급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C22FC9D-8EA4-8CC6-4642-CD74FC16077C}"/>
                </a:ext>
              </a:extLst>
            </p:cNvPr>
            <p:cNvSpPr/>
            <p:nvPr/>
          </p:nvSpPr>
          <p:spPr>
            <a:xfrm>
              <a:off x="9619965" y="2162642"/>
              <a:ext cx="1481282" cy="85925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A6B1B08-CC4F-0E4B-84BF-F4DD827F32EB}"/>
                </a:ext>
              </a:extLst>
            </p:cNvPr>
            <p:cNvSpPr txBox="1"/>
            <p:nvPr/>
          </p:nvSpPr>
          <p:spPr>
            <a:xfrm>
              <a:off x="9729664" y="2469375"/>
              <a:ext cx="12748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3E5AB4"/>
                  </a:solidFill>
                </a:rPr>
                <a:t>생산계획</a:t>
              </a: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856B679-1A21-3F0A-F298-BFD262DFE95A}"/>
                </a:ext>
              </a:extLst>
            </p:cNvPr>
            <p:cNvSpPr/>
            <p:nvPr/>
          </p:nvSpPr>
          <p:spPr>
            <a:xfrm>
              <a:off x="9619965" y="4120196"/>
              <a:ext cx="1481282" cy="85925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EB143D-CF16-6299-B319-46D91DC1C9E2}"/>
                </a:ext>
              </a:extLst>
            </p:cNvPr>
            <p:cNvSpPr txBox="1"/>
            <p:nvPr/>
          </p:nvSpPr>
          <p:spPr>
            <a:xfrm>
              <a:off x="9909201" y="4426929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3E5AB4"/>
                  </a:solidFill>
                </a:rPr>
                <a:t>생산실적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02B15D-681C-2604-4383-A4A6B7011CE5}"/>
                </a:ext>
              </a:extLst>
            </p:cNvPr>
            <p:cNvSpPr txBox="1"/>
            <p:nvPr/>
          </p:nvSpPr>
          <p:spPr>
            <a:xfrm>
              <a:off x="3127899" y="3408768"/>
              <a:ext cx="104547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1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차 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ko-KR" altLang="en-US" sz="1400" b="1" dirty="0">
                  <a:solidFill>
                    <a:schemeClr val="bg1"/>
                  </a:solidFill>
                </a:rPr>
                <a:t>공정별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Allocation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6EEFD9A-D889-1F13-C4BF-592953A6A6C9}"/>
                </a:ext>
              </a:extLst>
            </p:cNvPr>
            <p:cNvSpPr txBox="1"/>
            <p:nvPr/>
          </p:nvSpPr>
          <p:spPr>
            <a:xfrm>
              <a:off x="8976641" y="3772827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활용정보</a:t>
              </a:r>
            </a:p>
          </p:txBody>
        </p:sp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798134DB-B988-EF6C-CAF5-F4198507BA0F}"/>
                </a:ext>
              </a:extLst>
            </p:cNvPr>
            <p:cNvSpPr/>
            <p:nvPr/>
          </p:nvSpPr>
          <p:spPr>
            <a:xfrm rot="19876442">
              <a:off x="9137734" y="3217431"/>
              <a:ext cx="408414" cy="245491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D722D267-857E-D174-EE1E-91B19DAC96D4}"/>
                </a:ext>
              </a:extLst>
            </p:cNvPr>
            <p:cNvSpPr/>
            <p:nvPr/>
          </p:nvSpPr>
          <p:spPr>
            <a:xfrm rot="1723558" flipV="1">
              <a:off x="9137734" y="4396371"/>
              <a:ext cx="408414" cy="245491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1B061B2-C191-A406-0E7D-FF6063450373}"/>
                </a:ext>
              </a:extLst>
            </p:cNvPr>
            <p:cNvSpPr/>
            <p:nvPr/>
          </p:nvSpPr>
          <p:spPr>
            <a:xfrm>
              <a:off x="9619965" y="5098973"/>
              <a:ext cx="1481282" cy="85925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AFD362B-6603-B052-98F9-88C0675440A6}"/>
                </a:ext>
              </a:extLst>
            </p:cNvPr>
            <p:cNvSpPr txBox="1"/>
            <p:nvPr/>
          </p:nvSpPr>
          <p:spPr>
            <a:xfrm>
              <a:off x="9909201" y="540570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3E5AB4"/>
                  </a:solidFill>
                </a:rPr>
                <a:t>납기예측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40CE6432-4773-6BDD-6AFC-76B7F180BD8D}"/>
                </a:ext>
              </a:extLst>
            </p:cNvPr>
            <p:cNvSpPr/>
            <p:nvPr/>
          </p:nvSpPr>
          <p:spPr>
            <a:xfrm>
              <a:off x="4332460" y="2196492"/>
              <a:ext cx="3343675" cy="400052"/>
            </a:xfrm>
            <a:prstGeom prst="roundRect">
              <a:avLst>
                <a:gd name="adj" fmla="val 50000"/>
              </a:avLst>
            </a:prstGeom>
            <a:solidFill>
              <a:srgbClr val="344C9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생산관리 시스템</a:t>
              </a:r>
            </a:p>
          </p:txBody>
        </p:sp>
      </p:grpSp>
      <p:pic>
        <p:nvPicPr>
          <p:cNvPr id="3" name="Picture 6">
            <a:extLst>
              <a:ext uri="{FF2B5EF4-FFF2-40B4-BE49-F238E27FC236}">
                <a16:creationId xmlns:a16="http://schemas.microsoft.com/office/drawing/2014/main" id="{86F02C30-77C5-D2F2-0EE4-A44ACF785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441" y="3228630"/>
            <a:ext cx="1442952" cy="1791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D034E213-E6F5-21B8-CBAE-118DDB724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111" y="4051300"/>
            <a:ext cx="565145" cy="48441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D7ED757F-E5C8-7F83-53BE-37B6B552E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152" y="4051300"/>
            <a:ext cx="565145" cy="484410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0D8133D-750A-CAE2-4723-650E6E20DA60}"/>
              </a:ext>
            </a:extLst>
          </p:cNvPr>
          <p:cNvSpPr/>
          <p:nvPr/>
        </p:nvSpPr>
        <p:spPr>
          <a:xfrm>
            <a:off x="2076451" y="2847729"/>
            <a:ext cx="6816194" cy="2703400"/>
          </a:xfrm>
          <a:prstGeom prst="roundRect">
            <a:avLst>
              <a:gd name="adj" fmla="val 5220"/>
            </a:avLst>
          </a:prstGeom>
          <a:solidFill>
            <a:srgbClr val="93A4D9">
              <a:alpha val="46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1188EF-0841-2FF6-6B40-DD1285F246D6}"/>
              </a:ext>
            </a:extLst>
          </p:cNvPr>
          <p:cNvSpPr txBox="1"/>
          <p:nvPr/>
        </p:nvSpPr>
        <p:spPr>
          <a:xfrm>
            <a:off x="3506844" y="4628522"/>
            <a:ext cx="55367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PDA</a:t>
            </a:r>
            <a:endParaRPr lang="ko-KR" alt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48B569-211B-E527-78C4-0DBE64F2CDF0}"/>
              </a:ext>
            </a:extLst>
          </p:cNvPr>
          <p:cNvSpPr txBox="1"/>
          <p:nvPr/>
        </p:nvSpPr>
        <p:spPr>
          <a:xfrm>
            <a:off x="7025885" y="4628522"/>
            <a:ext cx="55367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PDA</a:t>
            </a:r>
            <a:endParaRPr lang="ko-KR" altLang="en-US" sz="1400" dirty="0"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04D65E99-EAC4-A158-0204-2439D5D2F087}"/>
              </a:ext>
            </a:extLst>
          </p:cNvPr>
          <p:cNvSpPr/>
          <p:nvPr/>
        </p:nvSpPr>
        <p:spPr>
          <a:xfrm>
            <a:off x="4254500" y="4076700"/>
            <a:ext cx="408414" cy="24549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7F85E06F-DF74-CE57-6EA6-AAB237166D25}"/>
              </a:ext>
            </a:extLst>
          </p:cNvPr>
          <p:cNvSpPr/>
          <p:nvPr/>
        </p:nvSpPr>
        <p:spPr>
          <a:xfrm>
            <a:off x="6527742" y="4076700"/>
            <a:ext cx="408414" cy="24549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43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5C44-4B10-2949-7D7D-B6575F8A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E6CBF9-F4CF-FBD8-81BE-D846128B18D7}"/>
              </a:ext>
            </a:extLst>
          </p:cNvPr>
          <p:cNvSpPr txBox="1"/>
          <p:nvPr/>
        </p:nvSpPr>
        <p:spPr>
          <a:xfrm>
            <a:off x="247650" y="129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3E5AB4"/>
                </a:solidFill>
                <a:latin typeface="+mn-ea"/>
              </a:rPr>
              <a:t>02.</a:t>
            </a:r>
            <a:r>
              <a:rPr lang="ko-KR" altLang="en-US" sz="1800" b="1" dirty="0">
                <a:solidFill>
                  <a:srgbClr val="3E5AB4"/>
                </a:solidFill>
                <a:latin typeface="+mn-ea"/>
              </a:rPr>
              <a:t> 제안 내용</a:t>
            </a:r>
            <a:endParaRPr lang="ko-KR" altLang="en-US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96F8D-4619-549A-70D5-CE1F3FBA9A4F}"/>
              </a:ext>
            </a:extLst>
          </p:cNvPr>
          <p:cNvSpPr txBox="1"/>
          <p:nvPr/>
        </p:nvSpPr>
        <p:spPr>
          <a:xfrm>
            <a:off x="514350" y="6894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생산계획 프로세스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3C220-9057-A26F-B5E8-E6127F2285D7}"/>
              </a:ext>
            </a:extLst>
          </p:cNvPr>
          <p:cNvSpPr txBox="1"/>
          <p:nvPr/>
        </p:nvSpPr>
        <p:spPr>
          <a:xfrm>
            <a:off x="812799" y="1053920"/>
            <a:ext cx="1101725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Daily</a:t>
            </a:r>
            <a:r>
              <a:rPr lang="ko-KR" altLang="en-US" sz="1400" dirty="0"/>
              <a:t>생산 실적을 모니터링하고</a:t>
            </a:r>
            <a:r>
              <a:rPr lang="en-US" altLang="ko-KR" sz="1400" dirty="0"/>
              <a:t>,</a:t>
            </a:r>
            <a:r>
              <a:rPr lang="ko-KR" altLang="en-US" sz="1400" dirty="0"/>
              <a:t> 제품별에 대한 진행상황을 바탕으로 납기에 대한 정합성 향상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향후 수주</a:t>
            </a:r>
            <a:r>
              <a:rPr lang="en-US" altLang="ko-KR" sz="1400" dirty="0"/>
              <a:t>/</a:t>
            </a:r>
            <a:r>
              <a:rPr lang="ko-KR" altLang="en-US" sz="1400" dirty="0"/>
              <a:t>납기관리 시스템과 연동하여 수주 건별 납기에 대한 </a:t>
            </a:r>
            <a:r>
              <a:rPr lang="en-US" altLang="ko-KR" sz="1400" dirty="0"/>
              <a:t>Risk</a:t>
            </a:r>
            <a:r>
              <a:rPr lang="ko-KR" altLang="en-US" sz="1400" dirty="0"/>
              <a:t>를 최소화하고</a:t>
            </a:r>
            <a:r>
              <a:rPr lang="en-US" altLang="ko-KR" sz="1400" dirty="0"/>
              <a:t> BOM</a:t>
            </a:r>
            <a:r>
              <a:rPr lang="ko-KR" altLang="en-US" sz="1400" dirty="0"/>
              <a:t>시스템과 생산계획 시스템 활용하여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원자재 수급에 적극 활용</a:t>
            </a:r>
            <a:endParaRPr lang="en-US" altLang="ko-KR" sz="1400" dirty="0"/>
          </a:p>
          <a:p>
            <a:endParaRPr lang="ko-KR" altLang="en-US" sz="14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F756EBF-89CE-CCB4-B4DD-2B06486DEDEE}"/>
              </a:ext>
            </a:extLst>
          </p:cNvPr>
          <p:cNvGrpSpPr/>
          <p:nvPr/>
        </p:nvGrpSpPr>
        <p:grpSpPr>
          <a:xfrm>
            <a:off x="133350" y="2135808"/>
            <a:ext cx="11931650" cy="4226892"/>
            <a:chOff x="133350" y="2040558"/>
            <a:chExt cx="11931650" cy="4226892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B5E6EC88-F93C-E970-70F0-4C159ACC243F}"/>
                </a:ext>
              </a:extLst>
            </p:cNvPr>
            <p:cNvSpPr/>
            <p:nvPr/>
          </p:nvSpPr>
          <p:spPr>
            <a:xfrm>
              <a:off x="729673" y="2040558"/>
              <a:ext cx="10732654" cy="4067753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41901EC2-C59D-3511-2CEF-EE70D114E424}"/>
                </a:ext>
              </a:extLst>
            </p:cNvPr>
            <p:cNvSpPr/>
            <p:nvPr/>
          </p:nvSpPr>
          <p:spPr>
            <a:xfrm>
              <a:off x="5229467" y="3078869"/>
              <a:ext cx="1549663" cy="1750914"/>
            </a:xfrm>
            <a:prstGeom prst="roundRect">
              <a:avLst>
                <a:gd name="adj" fmla="val 5220"/>
              </a:avLst>
            </a:prstGeom>
            <a:solidFill>
              <a:srgbClr val="3E5A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60ADAD50-1AD9-B2EE-B45B-059804A3C821}"/>
                </a:ext>
              </a:extLst>
            </p:cNvPr>
            <p:cNvSpPr/>
            <p:nvPr/>
          </p:nvSpPr>
          <p:spPr>
            <a:xfrm>
              <a:off x="7374878" y="3078869"/>
              <a:ext cx="1549663" cy="1750914"/>
            </a:xfrm>
            <a:prstGeom prst="roundRect">
              <a:avLst>
                <a:gd name="adj" fmla="val 5220"/>
              </a:avLst>
            </a:prstGeom>
            <a:solidFill>
              <a:srgbClr val="344C9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58CB018C-13A1-97AD-1E75-F8C35193F9A8}"/>
                </a:ext>
              </a:extLst>
            </p:cNvPr>
            <p:cNvSpPr/>
            <p:nvPr/>
          </p:nvSpPr>
          <p:spPr>
            <a:xfrm>
              <a:off x="3050301" y="3078869"/>
              <a:ext cx="1549663" cy="1750914"/>
            </a:xfrm>
            <a:prstGeom prst="roundRect">
              <a:avLst>
                <a:gd name="adj" fmla="val 5220"/>
              </a:avLst>
            </a:prstGeom>
            <a:solidFill>
              <a:srgbClr val="93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24F50C4-FF34-C9ED-30B7-F9F1000AA3EE}"/>
                </a:ext>
              </a:extLst>
            </p:cNvPr>
            <p:cNvCxnSpPr/>
            <p:nvPr/>
          </p:nvCxnSpPr>
          <p:spPr>
            <a:xfrm>
              <a:off x="133350" y="6267450"/>
              <a:ext cx="119316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A5BA28F-E2F6-8318-0B46-F708F68441AF}"/>
                </a:ext>
              </a:extLst>
            </p:cNvPr>
            <p:cNvSpPr/>
            <p:nvPr/>
          </p:nvSpPr>
          <p:spPr>
            <a:xfrm>
              <a:off x="4380626" y="2263636"/>
              <a:ext cx="3430747" cy="5333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DF9B73-B5CE-6074-EB17-01386A7FF280}"/>
                </a:ext>
              </a:extLst>
            </p:cNvPr>
            <p:cNvSpPr/>
            <p:nvPr/>
          </p:nvSpPr>
          <p:spPr>
            <a:xfrm>
              <a:off x="1244600" y="2639884"/>
              <a:ext cx="1092200" cy="77324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93A4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46E9C699-4B64-F8B2-15F8-E9254C484C08}"/>
                </a:ext>
              </a:extLst>
            </p:cNvPr>
            <p:cNvSpPr/>
            <p:nvPr/>
          </p:nvSpPr>
          <p:spPr>
            <a:xfrm>
              <a:off x="1244600" y="4167059"/>
              <a:ext cx="1092200" cy="77324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93A4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9846FF-474A-AC8A-CB86-41B876A226BE}"/>
                </a:ext>
              </a:extLst>
            </p:cNvPr>
            <p:cNvSpPr txBox="1"/>
            <p:nvPr/>
          </p:nvSpPr>
          <p:spPr>
            <a:xfrm>
              <a:off x="1339295" y="2762116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수주정보</a:t>
              </a:r>
              <a:endParaRPr lang="en-US" altLang="ko-KR" sz="1400" dirty="0"/>
            </a:p>
            <a:p>
              <a:r>
                <a:rPr lang="ko-KR" altLang="en-US" sz="1400" dirty="0"/>
                <a:t>납기정보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A5EE1B3-0A73-349B-8D2A-AC63F2A26240}"/>
                </a:ext>
              </a:extLst>
            </p:cNvPr>
            <p:cNvSpPr txBox="1"/>
            <p:nvPr/>
          </p:nvSpPr>
          <p:spPr>
            <a:xfrm>
              <a:off x="1392194" y="4407584"/>
              <a:ext cx="7970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L/T</a:t>
              </a:r>
              <a:r>
                <a:rPr lang="ko-KR" altLang="en-US" sz="1400" dirty="0"/>
                <a:t>정보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15455A27-2B59-8B80-BD55-DF1492F2263E}"/>
                </a:ext>
              </a:extLst>
            </p:cNvPr>
            <p:cNvSpPr/>
            <p:nvPr/>
          </p:nvSpPr>
          <p:spPr>
            <a:xfrm>
              <a:off x="9619965" y="3141419"/>
              <a:ext cx="1481282" cy="85925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144B43A-F548-300E-6581-12FE8E1A4A29}"/>
                </a:ext>
              </a:extLst>
            </p:cNvPr>
            <p:cNvSpPr txBox="1"/>
            <p:nvPr/>
          </p:nvSpPr>
          <p:spPr>
            <a:xfrm>
              <a:off x="9819432" y="3448152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rgbClr val="3E5AB4"/>
                  </a:solidFill>
                </a:rPr>
                <a:t>원자재수급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E61ACD5-4E3A-ED83-A21B-27FD342FD2DA}"/>
                </a:ext>
              </a:extLst>
            </p:cNvPr>
            <p:cNvSpPr/>
            <p:nvPr/>
          </p:nvSpPr>
          <p:spPr>
            <a:xfrm>
              <a:off x="9619965" y="2162642"/>
              <a:ext cx="1481282" cy="85925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91290A1-43F3-567C-7DA6-78923709E48C}"/>
                </a:ext>
              </a:extLst>
            </p:cNvPr>
            <p:cNvSpPr txBox="1"/>
            <p:nvPr/>
          </p:nvSpPr>
          <p:spPr>
            <a:xfrm>
              <a:off x="9729664" y="2469375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rgbClr val="3E5AB4"/>
                  </a:solidFill>
                </a:rPr>
                <a:t>계획대비실적</a:t>
              </a: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5E3FA647-25E0-B130-298D-517629D3E547}"/>
                </a:ext>
              </a:extLst>
            </p:cNvPr>
            <p:cNvSpPr/>
            <p:nvPr/>
          </p:nvSpPr>
          <p:spPr>
            <a:xfrm>
              <a:off x="9619965" y="4120196"/>
              <a:ext cx="1481282" cy="85925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2BB704-A42D-EF61-A1FE-297B356591AD}"/>
                </a:ext>
              </a:extLst>
            </p:cNvPr>
            <p:cNvSpPr txBox="1"/>
            <p:nvPr/>
          </p:nvSpPr>
          <p:spPr>
            <a:xfrm>
              <a:off x="9909201" y="4426929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rgbClr val="3E5AB4"/>
                  </a:solidFill>
                </a:rPr>
                <a:t>계획원가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BABD54-C136-BDBD-2545-84E15D6EE724}"/>
                </a:ext>
              </a:extLst>
            </p:cNvPr>
            <p:cNvSpPr txBox="1"/>
            <p:nvPr/>
          </p:nvSpPr>
          <p:spPr>
            <a:xfrm>
              <a:off x="3127899" y="3408768"/>
              <a:ext cx="104547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1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차 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ko-KR" altLang="en-US" sz="1400" b="1" dirty="0">
                  <a:solidFill>
                    <a:schemeClr val="bg1"/>
                  </a:solidFill>
                </a:rPr>
                <a:t>공정별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Allocation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AB13D0-B30F-CC7A-570B-A9A0C7FA50E0}"/>
                </a:ext>
              </a:extLst>
            </p:cNvPr>
            <p:cNvSpPr txBox="1"/>
            <p:nvPr/>
          </p:nvSpPr>
          <p:spPr>
            <a:xfrm>
              <a:off x="5255491" y="3408768"/>
              <a:ext cx="146706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2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차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ko-KR" altLang="en-US" sz="1400" b="1" dirty="0">
                  <a:solidFill>
                    <a:schemeClr val="bg1"/>
                  </a:solidFill>
                </a:rPr>
                <a:t>설비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Allocation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A672CBF-56D6-14BD-4A10-272874D31CAE}"/>
                </a:ext>
              </a:extLst>
            </p:cNvPr>
            <p:cNvSpPr txBox="1"/>
            <p:nvPr/>
          </p:nvSpPr>
          <p:spPr>
            <a:xfrm>
              <a:off x="7457473" y="3408768"/>
              <a:ext cx="137537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solidFill>
                    <a:schemeClr val="bg1"/>
                  </a:solidFill>
                </a:rPr>
                <a:t>최종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ko-KR" altLang="en-US" sz="1400" b="1" dirty="0">
                  <a:solidFill>
                    <a:schemeClr val="bg1"/>
                  </a:solidFill>
                </a:rPr>
                <a:t>월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,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주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,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일별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Allocation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9BF9A1-95F4-694C-F285-B0095877B383}"/>
                </a:ext>
              </a:extLst>
            </p:cNvPr>
            <p:cNvSpPr txBox="1"/>
            <p:nvPr/>
          </p:nvSpPr>
          <p:spPr>
            <a:xfrm>
              <a:off x="2082934" y="3772827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기초정보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056F5C3-4F70-CCC7-0FB5-D579FC65A3E1}"/>
                </a:ext>
              </a:extLst>
            </p:cNvPr>
            <p:cNvSpPr txBox="1"/>
            <p:nvPr/>
          </p:nvSpPr>
          <p:spPr>
            <a:xfrm>
              <a:off x="8976641" y="3772827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활용정보</a:t>
              </a:r>
            </a:p>
          </p:txBody>
        </p:sp>
        <p:sp>
          <p:nvSpPr>
            <p:cNvPr id="30" name="화살표: 오른쪽 29">
              <a:extLst>
                <a:ext uri="{FF2B5EF4-FFF2-40B4-BE49-F238E27FC236}">
                  <a16:creationId xmlns:a16="http://schemas.microsoft.com/office/drawing/2014/main" id="{9B42B9AB-FA8D-6CFE-02A0-1022A91379C1}"/>
                </a:ext>
              </a:extLst>
            </p:cNvPr>
            <p:cNvSpPr/>
            <p:nvPr/>
          </p:nvSpPr>
          <p:spPr>
            <a:xfrm rot="1734766">
              <a:off x="2463800" y="3162300"/>
              <a:ext cx="408414" cy="245491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814E29D2-10A1-D28B-779F-3109679529D0}"/>
                </a:ext>
              </a:extLst>
            </p:cNvPr>
            <p:cNvSpPr/>
            <p:nvPr/>
          </p:nvSpPr>
          <p:spPr>
            <a:xfrm rot="19865234" flipV="1">
              <a:off x="2463800" y="4283273"/>
              <a:ext cx="408414" cy="245491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화살표: 오른쪽 31">
              <a:extLst>
                <a:ext uri="{FF2B5EF4-FFF2-40B4-BE49-F238E27FC236}">
                  <a16:creationId xmlns:a16="http://schemas.microsoft.com/office/drawing/2014/main" id="{3D11A99E-0604-7FA4-B82C-4EB8B90DEFCB}"/>
                </a:ext>
              </a:extLst>
            </p:cNvPr>
            <p:cNvSpPr/>
            <p:nvPr/>
          </p:nvSpPr>
          <p:spPr>
            <a:xfrm>
              <a:off x="4719670" y="3831580"/>
              <a:ext cx="408414" cy="245491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화살표: 아래로 구부러짐 32">
              <a:extLst>
                <a:ext uri="{FF2B5EF4-FFF2-40B4-BE49-F238E27FC236}">
                  <a16:creationId xmlns:a16="http://schemas.microsoft.com/office/drawing/2014/main" id="{D7FB3826-B5EA-1AE9-731D-F19C5F3A514B}"/>
                </a:ext>
              </a:extLst>
            </p:cNvPr>
            <p:cNvSpPr/>
            <p:nvPr/>
          </p:nvSpPr>
          <p:spPr>
            <a:xfrm rot="10800000">
              <a:off x="4019548" y="5021398"/>
              <a:ext cx="3791825" cy="692085"/>
            </a:xfrm>
            <a:prstGeom prst="curvedDownArrow">
              <a:avLst/>
            </a:prstGeom>
            <a:gradFill flip="none" rotWithShape="1">
              <a:gsLst>
                <a:gs pos="0">
                  <a:srgbClr val="93A4D9"/>
                </a:gs>
                <a:gs pos="50000">
                  <a:srgbClr val="3E5AB4"/>
                </a:gs>
                <a:gs pos="100000">
                  <a:srgbClr val="2E438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3E1AA5EF-0724-B750-5609-C7312F260FF9}"/>
                </a:ext>
              </a:extLst>
            </p:cNvPr>
            <p:cNvSpPr/>
            <p:nvPr/>
          </p:nvSpPr>
          <p:spPr>
            <a:xfrm rot="19876442">
              <a:off x="9137734" y="3217431"/>
              <a:ext cx="408414" cy="245491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0AE75013-D2A5-4E2E-327C-4E6CFA8F3586}"/>
                </a:ext>
              </a:extLst>
            </p:cNvPr>
            <p:cNvSpPr/>
            <p:nvPr/>
          </p:nvSpPr>
          <p:spPr>
            <a:xfrm rot="1723558" flipV="1">
              <a:off x="9137734" y="4396371"/>
              <a:ext cx="408414" cy="245491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AAF4130-ABD9-81E3-D6E8-1B00F82CC93F}"/>
                </a:ext>
              </a:extLst>
            </p:cNvPr>
            <p:cNvSpPr/>
            <p:nvPr/>
          </p:nvSpPr>
          <p:spPr>
            <a:xfrm>
              <a:off x="9619965" y="5098973"/>
              <a:ext cx="1481282" cy="85925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4945EEB-BD46-03C9-6533-25E4BDA5C503}"/>
                </a:ext>
              </a:extLst>
            </p:cNvPr>
            <p:cNvSpPr txBox="1"/>
            <p:nvPr/>
          </p:nvSpPr>
          <p:spPr>
            <a:xfrm>
              <a:off x="9909201" y="540570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rgbClr val="3E5AB4"/>
                  </a:solidFill>
                </a:rPr>
                <a:t>납기정보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792D659-9CCD-C2C4-4913-3978B67E605C}"/>
                </a:ext>
              </a:extLst>
            </p:cNvPr>
            <p:cNvSpPr txBox="1"/>
            <p:nvPr/>
          </p:nvSpPr>
          <p:spPr>
            <a:xfrm>
              <a:off x="5695408" y="5156989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최적화</a:t>
              </a:r>
            </a:p>
          </p:txBody>
        </p:sp>
        <p:sp>
          <p:nvSpPr>
            <p:cNvPr id="39" name="화살표: 오른쪽 38">
              <a:extLst>
                <a:ext uri="{FF2B5EF4-FFF2-40B4-BE49-F238E27FC236}">
                  <a16:creationId xmlns:a16="http://schemas.microsoft.com/office/drawing/2014/main" id="{AE54D135-8642-05E1-01D6-AE37B144A10F}"/>
                </a:ext>
              </a:extLst>
            </p:cNvPr>
            <p:cNvSpPr/>
            <p:nvPr/>
          </p:nvSpPr>
          <p:spPr>
            <a:xfrm>
              <a:off x="6898836" y="3831580"/>
              <a:ext cx="408414" cy="245491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A6EC116B-4AE0-BD4A-A802-DF229F2FCDCC}"/>
                </a:ext>
              </a:extLst>
            </p:cNvPr>
            <p:cNvSpPr/>
            <p:nvPr/>
          </p:nvSpPr>
          <p:spPr>
            <a:xfrm>
              <a:off x="4332460" y="2196492"/>
              <a:ext cx="3343675" cy="400052"/>
            </a:xfrm>
            <a:prstGeom prst="roundRect">
              <a:avLst>
                <a:gd name="adj" fmla="val 50000"/>
              </a:avLst>
            </a:prstGeom>
            <a:solidFill>
              <a:srgbClr val="344C9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생산계획 시스템</a:t>
              </a: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C94EBB45-92A1-BF52-9F84-F60FCB1F296F}"/>
                </a:ext>
              </a:extLst>
            </p:cNvPr>
            <p:cNvSpPr/>
            <p:nvPr/>
          </p:nvSpPr>
          <p:spPr>
            <a:xfrm>
              <a:off x="1167065" y="5653999"/>
              <a:ext cx="1247269" cy="256191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L/T : Lead Time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5071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82CD5-7964-C05A-2A4C-67B4E5D8D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8B7FB0-50CC-03CC-76D9-906A079C437C}"/>
              </a:ext>
            </a:extLst>
          </p:cNvPr>
          <p:cNvSpPr txBox="1"/>
          <p:nvPr/>
        </p:nvSpPr>
        <p:spPr>
          <a:xfrm>
            <a:off x="247650" y="129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3E5AB4"/>
                </a:solidFill>
                <a:latin typeface="+mn-ea"/>
              </a:rPr>
              <a:t>02.</a:t>
            </a:r>
            <a:r>
              <a:rPr lang="ko-KR" altLang="en-US" sz="1800" b="1" dirty="0">
                <a:solidFill>
                  <a:srgbClr val="3E5AB4"/>
                </a:solidFill>
                <a:latin typeface="+mn-ea"/>
              </a:rPr>
              <a:t> 제안 내용</a:t>
            </a:r>
            <a:endParaRPr lang="ko-KR" altLang="en-US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54DF4-47D9-BC1A-8D66-707B1D244C1B}"/>
              </a:ext>
            </a:extLst>
          </p:cNvPr>
          <p:cNvSpPr txBox="1"/>
          <p:nvPr/>
        </p:nvSpPr>
        <p:spPr>
          <a:xfrm>
            <a:off x="514350" y="6894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H/W &amp; S/W </a:t>
            </a:r>
            <a:r>
              <a:rPr lang="ko-KR" altLang="en-US" sz="1600" b="1" dirty="0"/>
              <a:t>구성도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3EA670-4973-E774-A343-433D882FBF89}"/>
              </a:ext>
            </a:extLst>
          </p:cNvPr>
          <p:cNvSpPr txBox="1"/>
          <p:nvPr/>
        </p:nvSpPr>
        <p:spPr>
          <a:xfrm>
            <a:off x="812799" y="1053920"/>
            <a:ext cx="1101725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Application </a:t>
            </a:r>
            <a:r>
              <a:rPr lang="ko-KR" altLang="en-US" sz="1400" dirty="0"/>
              <a:t>및 </a:t>
            </a:r>
            <a:r>
              <a:rPr lang="en-US" altLang="ko-KR" sz="1400" dirty="0"/>
              <a:t>DB Server</a:t>
            </a:r>
            <a:r>
              <a:rPr lang="ko-KR" altLang="en-US" sz="1400" dirty="0"/>
              <a:t>는 이중화로 구성하여 장애 및 재해에 대비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투자효율화를 위하여 </a:t>
            </a:r>
            <a:r>
              <a:rPr lang="en-US" altLang="ko-KR" sz="1400" dirty="0"/>
              <a:t>DBMS </a:t>
            </a:r>
            <a:r>
              <a:rPr lang="ko-KR" altLang="en-US" sz="1400" dirty="0"/>
              <a:t>및 </a:t>
            </a:r>
            <a:r>
              <a:rPr lang="en-US" altLang="ko-KR" sz="1400" dirty="0"/>
              <a:t>Web Server</a:t>
            </a:r>
            <a:r>
              <a:rPr lang="ko-KR" altLang="en-US" sz="1400" dirty="0"/>
              <a:t>는 오픈 라이선스를 사용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Web</a:t>
            </a:r>
            <a:r>
              <a:rPr lang="ko-KR" altLang="en-US" sz="1400" dirty="0"/>
              <a:t> </a:t>
            </a:r>
            <a:r>
              <a:rPr lang="en-US" altLang="ko-KR" sz="1400" dirty="0"/>
              <a:t>Component</a:t>
            </a:r>
            <a:r>
              <a:rPr lang="ko-KR" altLang="en-US" sz="1400" dirty="0"/>
              <a:t>는 국산 툴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RealGrid</a:t>
            </a:r>
            <a:r>
              <a:rPr lang="en-US" altLang="ko-KR" sz="1400" dirty="0"/>
              <a:t>)</a:t>
            </a:r>
            <a:r>
              <a:rPr lang="ko-KR" altLang="en-US" sz="1400" dirty="0"/>
              <a:t>을 사용</a:t>
            </a:r>
            <a:r>
              <a:rPr lang="en-US" altLang="ko-KR" sz="1400" dirty="0"/>
              <a:t>(</a:t>
            </a:r>
            <a:r>
              <a:rPr lang="ko-KR" altLang="en-US" sz="1400" dirty="0"/>
              <a:t>약 </a:t>
            </a:r>
            <a:r>
              <a:rPr lang="en-US" altLang="ko-KR" sz="1400" dirty="0"/>
              <a:t>1200</a:t>
            </a:r>
            <a:r>
              <a:rPr lang="ko-KR" altLang="en-US" sz="1400" dirty="0"/>
              <a:t>만원</a:t>
            </a:r>
            <a:r>
              <a:rPr lang="en-US" altLang="ko-KR" sz="1400" dirty="0"/>
              <a:t>)</a:t>
            </a:r>
          </a:p>
          <a:p>
            <a:endParaRPr lang="ko-KR" altLang="en-US" sz="14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ACE2FA-9D77-7E79-DCD9-7BE4BC80B94A}"/>
              </a:ext>
            </a:extLst>
          </p:cNvPr>
          <p:cNvGrpSpPr/>
          <p:nvPr/>
        </p:nvGrpSpPr>
        <p:grpSpPr>
          <a:xfrm>
            <a:off x="133350" y="2135808"/>
            <a:ext cx="11931650" cy="4226892"/>
            <a:chOff x="133350" y="2040558"/>
            <a:chExt cx="11931650" cy="4226892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04EBCA46-2A98-1959-3A20-B2FBDE658B67}"/>
                </a:ext>
              </a:extLst>
            </p:cNvPr>
            <p:cNvSpPr/>
            <p:nvPr/>
          </p:nvSpPr>
          <p:spPr>
            <a:xfrm>
              <a:off x="729673" y="2040558"/>
              <a:ext cx="10732654" cy="4067753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D6A236B-C73E-AA71-374D-17230522FE3A}"/>
                </a:ext>
              </a:extLst>
            </p:cNvPr>
            <p:cNvCxnSpPr/>
            <p:nvPr/>
          </p:nvCxnSpPr>
          <p:spPr>
            <a:xfrm>
              <a:off x="133350" y="6267450"/>
              <a:ext cx="119316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533A0F1-24C6-6E09-0577-772F3AC08EE8}"/>
                </a:ext>
              </a:extLst>
            </p:cNvPr>
            <p:cNvSpPr/>
            <p:nvPr/>
          </p:nvSpPr>
          <p:spPr>
            <a:xfrm>
              <a:off x="4380626" y="2263636"/>
              <a:ext cx="3430747" cy="5333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BAF03C3A-5635-C460-CB20-FE648DCE3F53}"/>
                </a:ext>
              </a:extLst>
            </p:cNvPr>
            <p:cNvSpPr/>
            <p:nvPr/>
          </p:nvSpPr>
          <p:spPr>
            <a:xfrm>
              <a:off x="4332460" y="2196492"/>
              <a:ext cx="3343675" cy="400052"/>
            </a:xfrm>
            <a:prstGeom prst="roundRect">
              <a:avLst>
                <a:gd name="adj" fmla="val 50000"/>
              </a:avLst>
            </a:prstGeom>
            <a:solidFill>
              <a:srgbClr val="344C9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시스템 구성도</a:t>
              </a:r>
            </a:p>
          </p:txBody>
        </p:sp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23425DC6-9160-A9A0-98EF-17DD5BDE7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4032579"/>
            <a:ext cx="1651000" cy="104531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1C980E2-1034-CA76-8F6C-5C654B299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872456"/>
              </p:ext>
            </p:extLst>
          </p:nvPr>
        </p:nvGraphicFramePr>
        <p:xfrm>
          <a:off x="8007350" y="2932226"/>
          <a:ext cx="2178050" cy="1354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050">
                  <a:extLst>
                    <a:ext uri="{9D8B030D-6E8A-4147-A177-3AD203B41FA5}">
                      <a16:colId xmlns:a16="http://schemas.microsoft.com/office/drawing/2014/main" val="2750992530"/>
                    </a:ext>
                  </a:extLst>
                </a:gridCol>
              </a:tblGrid>
              <a:tr h="3189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DB Server Master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466568"/>
                  </a:ext>
                </a:extLst>
              </a:tr>
              <a:tr h="103505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507881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EB588B59-2A6F-8746-1191-7D668CE4C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637245"/>
              </p:ext>
            </p:extLst>
          </p:nvPr>
        </p:nvGraphicFramePr>
        <p:xfrm>
          <a:off x="8007350" y="4493762"/>
          <a:ext cx="2178050" cy="1367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050">
                  <a:extLst>
                    <a:ext uri="{9D8B030D-6E8A-4147-A177-3AD203B41FA5}">
                      <a16:colId xmlns:a16="http://schemas.microsoft.com/office/drawing/2014/main" val="2750992530"/>
                    </a:ext>
                  </a:extLst>
                </a:gridCol>
              </a:tblGrid>
              <a:tr h="3189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DB Server Backup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466568"/>
                  </a:ext>
                </a:extLst>
              </a:tr>
              <a:tr h="1048314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507881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25E4C235-4AE2-7577-2A84-FE813C661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008718"/>
              </p:ext>
            </p:extLst>
          </p:nvPr>
        </p:nvGraphicFramePr>
        <p:xfrm>
          <a:off x="4660900" y="2932226"/>
          <a:ext cx="2178050" cy="1366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050">
                  <a:extLst>
                    <a:ext uri="{9D8B030D-6E8A-4147-A177-3AD203B41FA5}">
                      <a16:colId xmlns:a16="http://schemas.microsoft.com/office/drawing/2014/main" val="2750992530"/>
                    </a:ext>
                  </a:extLst>
                </a:gridCol>
              </a:tblGrid>
              <a:tr h="3189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Application Server 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466568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507881"/>
                  </a:ext>
                </a:extLst>
              </a:tr>
            </a:tbl>
          </a:graphicData>
        </a:graphic>
      </p:graphicFrame>
      <p:sp>
        <p:nvSpPr>
          <p:cNvPr id="46" name="타원 45">
            <a:extLst>
              <a:ext uri="{FF2B5EF4-FFF2-40B4-BE49-F238E27FC236}">
                <a16:creationId xmlns:a16="http://schemas.microsoft.com/office/drawing/2014/main" id="{BE6244C7-95C5-3421-845E-62E92337FBF9}"/>
              </a:ext>
            </a:extLst>
          </p:cNvPr>
          <p:cNvSpPr/>
          <p:nvPr/>
        </p:nvSpPr>
        <p:spPr>
          <a:xfrm>
            <a:off x="5064125" y="3362092"/>
            <a:ext cx="1371600" cy="3466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엔진엑스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(Nginx)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25438D7-D102-FF40-E60B-4303A52236AE}"/>
              </a:ext>
            </a:extLst>
          </p:cNvPr>
          <p:cNvSpPr/>
          <p:nvPr/>
        </p:nvSpPr>
        <p:spPr>
          <a:xfrm>
            <a:off x="5064125" y="3867479"/>
            <a:ext cx="1371600" cy="3466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RealGrid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97221F04-7408-A3D7-7B5F-578B92B87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832418"/>
              </p:ext>
            </p:extLst>
          </p:nvPr>
        </p:nvGraphicFramePr>
        <p:xfrm>
          <a:off x="4660900" y="4490635"/>
          <a:ext cx="2178050" cy="137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050">
                  <a:extLst>
                    <a:ext uri="{9D8B030D-6E8A-4147-A177-3AD203B41FA5}">
                      <a16:colId xmlns:a16="http://schemas.microsoft.com/office/drawing/2014/main" val="2750992530"/>
                    </a:ext>
                  </a:extLst>
                </a:gridCol>
              </a:tblGrid>
              <a:tr h="3189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Application Server 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466568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507881"/>
                  </a:ext>
                </a:extLst>
              </a:tr>
            </a:tbl>
          </a:graphicData>
        </a:graphic>
      </p:graphicFrame>
      <p:sp>
        <p:nvSpPr>
          <p:cNvPr id="54" name="타원 53">
            <a:extLst>
              <a:ext uri="{FF2B5EF4-FFF2-40B4-BE49-F238E27FC236}">
                <a16:creationId xmlns:a16="http://schemas.microsoft.com/office/drawing/2014/main" id="{FBBD6223-543B-8580-6DE0-40FE6CFD13D8}"/>
              </a:ext>
            </a:extLst>
          </p:cNvPr>
          <p:cNvSpPr/>
          <p:nvPr/>
        </p:nvSpPr>
        <p:spPr>
          <a:xfrm>
            <a:off x="5064125" y="4911672"/>
            <a:ext cx="1371600" cy="3466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엔진엑스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(Nginx)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D416818-2F09-E79E-55D3-651056E62A9A}"/>
              </a:ext>
            </a:extLst>
          </p:cNvPr>
          <p:cNvSpPr/>
          <p:nvPr/>
        </p:nvSpPr>
        <p:spPr>
          <a:xfrm>
            <a:off x="5064125" y="5417059"/>
            <a:ext cx="1371600" cy="3466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RealGrid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88045D5D-2E8E-F892-F306-63B349C25D58}"/>
              </a:ext>
            </a:extLst>
          </p:cNvPr>
          <p:cNvSpPr/>
          <p:nvPr/>
        </p:nvSpPr>
        <p:spPr>
          <a:xfrm>
            <a:off x="8410575" y="3520824"/>
            <a:ext cx="1371600" cy="5114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DBMS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en-US" altLang="ko-KR" sz="1200" b="0" i="0" u="none" strike="noStrike" dirty="0">
                <a:solidFill>
                  <a:schemeClr val="tx1"/>
                </a:solidFill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PostgreSQL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ABF6DEA6-12BB-1FEB-431F-351737C01A45}"/>
              </a:ext>
            </a:extLst>
          </p:cNvPr>
          <p:cNvSpPr/>
          <p:nvPr/>
        </p:nvSpPr>
        <p:spPr>
          <a:xfrm>
            <a:off x="8410575" y="5084999"/>
            <a:ext cx="1371600" cy="5114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DBMS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en-US" altLang="ko-KR" sz="1200" b="0" i="0" u="none" strike="noStrike" dirty="0">
                <a:solidFill>
                  <a:schemeClr val="tx1"/>
                </a:solidFill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PostgreSQL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67607824-7ABD-90CD-4A81-48001B7BD669}"/>
              </a:ext>
            </a:extLst>
          </p:cNvPr>
          <p:cNvSpPr/>
          <p:nvPr/>
        </p:nvSpPr>
        <p:spPr>
          <a:xfrm>
            <a:off x="3340100" y="4309747"/>
            <a:ext cx="546100" cy="211453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왼쪽 중괄호 59">
            <a:extLst>
              <a:ext uri="{FF2B5EF4-FFF2-40B4-BE49-F238E27FC236}">
                <a16:creationId xmlns:a16="http://schemas.microsoft.com/office/drawing/2014/main" id="{591F5045-3B34-6A85-1376-FEB9B9DD1FAF}"/>
              </a:ext>
            </a:extLst>
          </p:cNvPr>
          <p:cNvSpPr/>
          <p:nvPr/>
        </p:nvSpPr>
        <p:spPr>
          <a:xfrm>
            <a:off x="4129260" y="3613150"/>
            <a:ext cx="328440" cy="1594377"/>
          </a:xfrm>
          <a:prstGeom prst="leftBrace">
            <a:avLst>
              <a:gd name="adj1" fmla="val 4893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화살표: 오른쪽 60">
            <a:extLst>
              <a:ext uri="{FF2B5EF4-FFF2-40B4-BE49-F238E27FC236}">
                <a16:creationId xmlns:a16="http://schemas.microsoft.com/office/drawing/2014/main" id="{7B3D9406-5BE5-E0AB-3E26-E7D915B492CB}"/>
              </a:ext>
            </a:extLst>
          </p:cNvPr>
          <p:cNvSpPr/>
          <p:nvPr/>
        </p:nvSpPr>
        <p:spPr>
          <a:xfrm>
            <a:off x="7150100" y="3535419"/>
            <a:ext cx="546100" cy="211453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화살표: 오른쪽 61">
            <a:extLst>
              <a:ext uri="{FF2B5EF4-FFF2-40B4-BE49-F238E27FC236}">
                <a16:creationId xmlns:a16="http://schemas.microsoft.com/office/drawing/2014/main" id="{0999C77F-3CD2-84FF-B0DF-CE04DD5F0517}"/>
              </a:ext>
            </a:extLst>
          </p:cNvPr>
          <p:cNvSpPr/>
          <p:nvPr/>
        </p:nvSpPr>
        <p:spPr>
          <a:xfrm rot="19349828">
            <a:off x="7150100" y="4284281"/>
            <a:ext cx="546100" cy="211453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5907513E-E67B-5FDB-BE8F-6688D89916B7}"/>
              </a:ext>
            </a:extLst>
          </p:cNvPr>
          <p:cNvSpPr/>
          <p:nvPr/>
        </p:nvSpPr>
        <p:spPr>
          <a:xfrm rot="5400000">
            <a:off x="8949014" y="4311437"/>
            <a:ext cx="205447" cy="197801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172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469CDD-F369-37AC-0006-ABC6551196D8}"/>
              </a:ext>
            </a:extLst>
          </p:cNvPr>
          <p:cNvSpPr txBox="1"/>
          <p:nvPr/>
        </p:nvSpPr>
        <p:spPr>
          <a:xfrm>
            <a:off x="247650" y="129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3E5AB4"/>
                </a:solidFill>
                <a:latin typeface="+mn-ea"/>
              </a:rPr>
              <a:t>03.</a:t>
            </a:r>
            <a:r>
              <a:rPr lang="ko-KR" altLang="en-US" sz="1800" b="1" dirty="0">
                <a:solidFill>
                  <a:srgbClr val="3E5AB4"/>
                </a:solidFill>
                <a:latin typeface="+mn-ea"/>
              </a:rPr>
              <a:t> 수행계획</a:t>
            </a:r>
            <a:r>
              <a:rPr lang="en-US" altLang="ko-KR" sz="1800" b="1" dirty="0">
                <a:solidFill>
                  <a:srgbClr val="3E5AB4"/>
                </a:solidFill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5B913-0A80-BEEB-1B08-01DDEF0DCDE2}"/>
              </a:ext>
            </a:extLst>
          </p:cNvPr>
          <p:cNvSpPr txBox="1"/>
          <p:nvPr/>
        </p:nvSpPr>
        <p:spPr>
          <a:xfrm>
            <a:off x="514350" y="6894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추진 일정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628B1-2155-00B0-A092-590F9B67999B}"/>
              </a:ext>
            </a:extLst>
          </p:cNvPr>
          <p:cNvSpPr txBox="1"/>
          <p:nvPr/>
        </p:nvSpPr>
        <p:spPr>
          <a:xfrm>
            <a:off x="812799" y="1039350"/>
            <a:ext cx="6546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개발방법론 및 프로젝트 산출물은 스페이스프로社의 프로세스를 준수하여 진행</a:t>
            </a:r>
            <a:endParaRPr lang="en-US" altLang="ko-KR" sz="1400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7C954DE-6032-BF48-DF51-8673E02EB4F5}"/>
              </a:ext>
            </a:extLst>
          </p:cNvPr>
          <p:cNvCxnSpPr>
            <a:cxnSpLocks/>
          </p:cNvCxnSpPr>
          <p:nvPr/>
        </p:nvCxnSpPr>
        <p:spPr>
          <a:xfrm>
            <a:off x="0" y="556141"/>
            <a:ext cx="12192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75C17FD2-61DA-8470-2276-58D6036CD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642897"/>
              </p:ext>
            </p:extLst>
          </p:nvPr>
        </p:nvGraphicFramePr>
        <p:xfrm>
          <a:off x="850900" y="1347376"/>
          <a:ext cx="10369547" cy="4769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704">
                  <a:extLst>
                    <a:ext uri="{9D8B030D-6E8A-4147-A177-3AD203B41FA5}">
                      <a16:colId xmlns:a16="http://schemas.microsoft.com/office/drawing/2014/main" val="1917150660"/>
                    </a:ext>
                  </a:extLst>
                </a:gridCol>
                <a:gridCol w="772391">
                  <a:extLst>
                    <a:ext uri="{9D8B030D-6E8A-4147-A177-3AD203B41FA5}">
                      <a16:colId xmlns:a16="http://schemas.microsoft.com/office/drawing/2014/main" val="3778562075"/>
                    </a:ext>
                  </a:extLst>
                </a:gridCol>
                <a:gridCol w="784335">
                  <a:extLst>
                    <a:ext uri="{9D8B030D-6E8A-4147-A177-3AD203B41FA5}">
                      <a16:colId xmlns:a16="http://schemas.microsoft.com/office/drawing/2014/main" val="917986603"/>
                    </a:ext>
                  </a:extLst>
                </a:gridCol>
                <a:gridCol w="768410">
                  <a:extLst>
                    <a:ext uri="{9D8B030D-6E8A-4147-A177-3AD203B41FA5}">
                      <a16:colId xmlns:a16="http://schemas.microsoft.com/office/drawing/2014/main" val="3549636110"/>
                    </a:ext>
                  </a:extLst>
                </a:gridCol>
                <a:gridCol w="796279">
                  <a:extLst>
                    <a:ext uri="{9D8B030D-6E8A-4147-A177-3AD203B41FA5}">
                      <a16:colId xmlns:a16="http://schemas.microsoft.com/office/drawing/2014/main" val="3724015594"/>
                    </a:ext>
                  </a:extLst>
                </a:gridCol>
                <a:gridCol w="776372">
                  <a:extLst>
                    <a:ext uri="{9D8B030D-6E8A-4147-A177-3AD203B41FA5}">
                      <a16:colId xmlns:a16="http://schemas.microsoft.com/office/drawing/2014/main" val="421079069"/>
                    </a:ext>
                  </a:extLst>
                </a:gridCol>
                <a:gridCol w="776372">
                  <a:extLst>
                    <a:ext uri="{9D8B030D-6E8A-4147-A177-3AD203B41FA5}">
                      <a16:colId xmlns:a16="http://schemas.microsoft.com/office/drawing/2014/main" val="4138642195"/>
                    </a:ext>
                  </a:extLst>
                </a:gridCol>
                <a:gridCol w="776372">
                  <a:extLst>
                    <a:ext uri="{9D8B030D-6E8A-4147-A177-3AD203B41FA5}">
                      <a16:colId xmlns:a16="http://schemas.microsoft.com/office/drawing/2014/main" val="1485660234"/>
                    </a:ext>
                  </a:extLst>
                </a:gridCol>
                <a:gridCol w="776372">
                  <a:extLst>
                    <a:ext uri="{9D8B030D-6E8A-4147-A177-3AD203B41FA5}">
                      <a16:colId xmlns:a16="http://schemas.microsoft.com/office/drawing/2014/main" val="550035163"/>
                    </a:ext>
                  </a:extLst>
                </a:gridCol>
                <a:gridCol w="776372">
                  <a:extLst>
                    <a:ext uri="{9D8B030D-6E8A-4147-A177-3AD203B41FA5}">
                      <a16:colId xmlns:a16="http://schemas.microsoft.com/office/drawing/2014/main" val="3735026448"/>
                    </a:ext>
                  </a:extLst>
                </a:gridCol>
                <a:gridCol w="776372">
                  <a:extLst>
                    <a:ext uri="{9D8B030D-6E8A-4147-A177-3AD203B41FA5}">
                      <a16:colId xmlns:a16="http://schemas.microsoft.com/office/drawing/2014/main" val="3128636506"/>
                    </a:ext>
                  </a:extLst>
                </a:gridCol>
                <a:gridCol w="1242196">
                  <a:extLst>
                    <a:ext uri="{9D8B030D-6E8A-4147-A177-3AD203B41FA5}">
                      <a16:colId xmlns:a16="http://schemas.microsoft.com/office/drawing/2014/main" val="3214670337"/>
                    </a:ext>
                  </a:extLst>
                </a:gridCol>
              </a:tblGrid>
              <a:tr h="379824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M+1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M+2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M+3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M+4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M+5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M+6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M+7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M+8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M+9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888622"/>
                  </a:ext>
                </a:extLst>
              </a:tr>
              <a:tr h="10945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기준정보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335745"/>
                  </a:ext>
                </a:extLst>
              </a:tr>
              <a:tr h="11398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생산관리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683837"/>
                  </a:ext>
                </a:extLst>
              </a:tr>
              <a:tr h="1073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자재관리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90269"/>
                  </a:ext>
                </a:extLst>
              </a:tr>
              <a:tr h="1082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생산계획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840718"/>
                  </a:ext>
                </a:extLst>
              </a:tr>
            </a:tbl>
          </a:graphicData>
        </a:graphic>
      </p:graphicFrame>
      <p:grpSp>
        <p:nvGrpSpPr>
          <p:cNvPr id="65" name="그룹 64">
            <a:extLst>
              <a:ext uri="{FF2B5EF4-FFF2-40B4-BE49-F238E27FC236}">
                <a16:creationId xmlns:a16="http://schemas.microsoft.com/office/drawing/2014/main" id="{BF5C4D0E-ABEA-8755-D1B0-75E6886AD212}"/>
              </a:ext>
            </a:extLst>
          </p:cNvPr>
          <p:cNvGrpSpPr/>
          <p:nvPr/>
        </p:nvGrpSpPr>
        <p:grpSpPr>
          <a:xfrm>
            <a:off x="2235200" y="1780231"/>
            <a:ext cx="793748" cy="308491"/>
            <a:chOff x="2235200" y="2008831"/>
            <a:chExt cx="793748" cy="30849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3CE0F855-DE55-29B7-7442-270A2D281673}"/>
                </a:ext>
              </a:extLst>
            </p:cNvPr>
            <p:cNvSpPr/>
            <p:nvPr/>
          </p:nvSpPr>
          <p:spPr>
            <a:xfrm>
              <a:off x="2235200" y="2008831"/>
              <a:ext cx="793748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BCDF11D-4199-5877-BB25-C7953A484A25}"/>
                </a:ext>
              </a:extLst>
            </p:cNvPr>
            <p:cNvSpPr txBox="1"/>
            <p:nvPr/>
          </p:nvSpPr>
          <p:spPr>
            <a:xfrm>
              <a:off x="2235200" y="2050124"/>
              <a:ext cx="7937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분석</a:t>
              </a:r>
              <a:r>
                <a:rPr lang="en-US" altLang="ko-KR" sz="1000" b="1" dirty="0"/>
                <a:t>/</a:t>
              </a:r>
              <a:r>
                <a:rPr lang="ko-KR" altLang="en-US" sz="1000" b="1" dirty="0"/>
                <a:t>설계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7A08755-D810-C171-099C-858F7A110CFE}"/>
              </a:ext>
            </a:extLst>
          </p:cNvPr>
          <p:cNvGrpSpPr/>
          <p:nvPr/>
        </p:nvGrpSpPr>
        <p:grpSpPr>
          <a:xfrm>
            <a:off x="2940050" y="2124507"/>
            <a:ext cx="1137797" cy="308491"/>
            <a:chOff x="3276600" y="2282415"/>
            <a:chExt cx="1231900" cy="308491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73BF0A4A-B9FF-49E7-8A5A-5E8324C980AB}"/>
                </a:ext>
              </a:extLst>
            </p:cNvPr>
            <p:cNvSpPr/>
            <p:nvPr/>
          </p:nvSpPr>
          <p:spPr>
            <a:xfrm>
              <a:off x="3276600" y="2282415"/>
              <a:ext cx="1231900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F1FAEA9-E536-CB31-88BD-DD023F203027}"/>
                </a:ext>
              </a:extLst>
            </p:cNvPr>
            <p:cNvSpPr txBox="1"/>
            <p:nvPr/>
          </p:nvSpPr>
          <p:spPr>
            <a:xfrm>
              <a:off x="3276601" y="2323710"/>
              <a:ext cx="1231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개발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C169C40-5758-80E3-2C2F-806673A6C983}"/>
              </a:ext>
            </a:extLst>
          </p:cNvPr>
          <p:cNvGrpSpPr/>
          <p:nvPr/>
        </p:nvGrpSpPr>
        <p:grpSpPr>
          <a:xfrm>
            <a:off x="3881861" y="2468783"/>
            <a:ext cx="671399" cy="308491"/>
            <a:chOff x="4546601" y="2561815"/>
            <a:chExt cx="577849" cy="308491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70BD3F31-7768-40DE-AD53-F500B290D0C9}"/>
                </a:ext>
              </a:extLst>
            </p:cNvPr>
            <p:cNvSpPr/>
            <p:nvPr/>
          </p:nvSpPr>
          <p:spPr>
            <a:xfrm>
              <a:off x="4546601" y="2561815"/>
              <a:ext cx="520699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72BABE-7114-4CFF-7813-04C40A168270}"/>
                </a:ext>
              </a:extLst>
            </p:cNvPr>
            <p:cNvSpPr txBox="1"/>
            <p:nvPr/>
          </p:nvSpPr>
          <p:spPr>
            <a:xfrm>
              <a:off x="4546603" y="2603110"/>
              <a:ext cx="5778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테스트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DA9B0C9-5186-372F-DDA8-8F1ED61035F2}"/>
              </a:ext>
            </a:extLst>
          </p:cNvPr>
          <p:cNvGrpSpPr/>
          <p:nvPr/>
        </p:nvGrpSpPr>
        <p:grpSpPr>
          <a:xfrm>
            <a:off x="2774950" y="2870209"/>
            <a:ext cx="1736019" cy="308491"/>
            <a:chOff x="2362200" y="1932631"/>
            <a:chExt cx="914400" cy="308491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1F8A9913-00CC-2229-011C-87E37EB5F566}"/>
                </a:ext>
              </a:extLst>
            </p:cNvPr>
            <p:cNvSpPr/>
            <p:nvPr/>
          </p:nvSpPr>
          <p:spPr>
            <a:xfrm>
              <a:off x="2362200" y="1932631"/>
              <a:ext cx="914400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1B178BC-DF74-945E-B43C-8308F68EFCF9}"/>
                </a:ext>
              </a:extLst>
            </p:cNvPr>
            <p:cNvSpPr txBox="1"/>
            <p:nvPr/>
          </p:nvSpPr>
          <p:spPr>
            <a:xfrm>
              <a:off x="2362201" y="1973924"/>
              <a:ext cx="7937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분석</a:t>
              </a:r>
              <a:r>
                <a:rPr lang="en-US" altLang="ko-KR" sz="1000" b="1" dirty="0"/>
                <a:t>/</a:t>
              </a:r>
              <a:r>
                <a:rPr lang="ko-KR" altLang="en-US" sz="1000" b="1" dirty="0"/>
                <a:t>설계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5D53DA1-7BE2-8B8C-1C1E-89239C4AF12A}"/>
              </a:ext>
            </a:extLst>
          </p:cNvPr>
          <p:cNvGrpSpPr/>
          <p:nvPr/>
        </p:nvGrpSpPr>
        <p:grpSpPr>
          <a:xfrm>
            <a:off x="3778250" y="3233535"/>
            <a:ext cx="3073224" cy="308491"/>
            <a:chOff x="3276600" y="2282415"/>
            <a:chExt cx="1231900" cy="308491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3D9410A3-D439-F349-EE1B-E72E929FB3D7}"/>
                </a:ext>
              </a:extLst>
            </p:cNvPr>
            <p:cNvSpPr/>
            <p:nvPr/>
          </p:nvSpPr>
          <p:spPr>
            <a:xfrm>
              <a:off x="3276600" y="2282415"/>
              <a:ext cx="1231900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A939EA6-2455-CA05-DF51-C41B97339B2A}"/>
                </a:ext>
              </a:extLst>
            </p:cNvPr>
            <p:cNvSpPr txBox="1"/>
            <p:nvPr/>
          </p:nvSpPr>
          <p:spPr>
            <a:xfrm>
              <a:off x="3276601" y="2323710"/>
              <a:ext cx="1231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개발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5C9F5AD-814F-E60F-8068-7A7FDE4D0C23}"/>
              </a:ext>
            </a:extLst>
          </p:cNvPr>
          <p:cNvGrpSpPr/>
          <p:nvPr/>
        </p:nvGrpSpPr>
        <p:grpSpPr>
          <a:xfrm>
            <a:off x="6302222" y="3596861"/>
            <a:ext cx="1349528" cy="308491"/>
            <a:chOff x="4546603" y="2561815"/>
            <a:chExt cx="577847" cy="308491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A76E6FF-2049-F520-B312-BC1C47995655}"/>
                </a:ext>
              </a:extLst>
            </p:cNvPr>
            <p:cNvSpPr/>
            <p:nvPr/>
          </p:nvSpPr>
          <p:spPr>
            <a:xfrm>
              <a:off x="4546609" y="2561815"/>
              <a:ext cx="520699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4228D49-B057-36CA-3D1A-CB76C5A094B5}"/>
                </a:ext>
              </a:extLst>
            </p:cNvPr>
            <p:cNvSpPr txBox="1"/>
            <p:nvPr/>
          </p:nvSpPr>
          <p:spPr>
            <a:xfrm>
              <a:off x="4546603" y="2603110"/>
              <a:ext cx="5778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테스트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A10F3BB-33B4-3B04-6C42-DECDB81F1D4A}"/>
              </a:ext>
            </a:extLst>
          </p:cNvPr>
          <p:cNvGrpSpPr/>
          <p:nvPr/>
        </p:nvGrpSpPr>
        <p:grpSpPr>
          <a:xfrm>
            <a:off x="4286250" y="4010987"/>
            <a:ext cx="1031940" cy="308491"/>
            <a:chOff x="2362200" y="1932631"/>
            <a:chExt cx="914400" cy="308491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4CF8814-F15A-0346-DAA0-34350D46F9FD}"/>
                </a:ext>
              </a:extLst>
            </p:cNvPr>
            <p:cNvSpPr/>
            <p:nvPr/>
          </p:nvSpPr>
          <p:spPr>
            <a:xfrm>
              <a:off x="2362200" y="1932631"/>
              <a:ext cx="914400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C3E125E-3F47-D069-BCE0-A1EE8DAF6F93}"/>
                </a:ext>
              </a:extLst>
            </p:cNvPr>
            <p:cNvSpPr txBox="1"/>
            <p:nvPr/>
          </p:nvSpPr>
          <p:spPr>
            <a:xfrm>
              <a:off x="2362201" y="1973924"/>
              <a:ext cx="7937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분석</a:t>
              </a:r>
              <a:r>
                <a:rPr lang="en-US" altLang="ko-KR" sz="1000" b="1" dirty="0"/>
                <a:t>/</a:t>
              </a:r>
              <a:r>
                <a:rPr lang="ko-KR" altLang="en-US" sz="1000" b="1" dirty="0"/>
                <a:t>설계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4E80F6C-FB23-C534-EFF3-BAF21DB94EB3}"/>
              </a:ext>
            </a:extLst>
          </p:cNvPr>
          <p:cNvGrpSpPr/>
          <p:nvPr/>
        </p:nvGrpSpPr>
        <p:grpSpPr>
          <a:xfrm>
            <a:off x="4946650" y="4348913"/>
            <a:ext cx="2705100" cy="308491"/>
            <a:chOff x="3276600" y="2282415"/>
            <a:chExt cx="1231900" cy="308491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171EB76C-5115-3975-9276-2E66ADC31B56}"/>
                </a:ext>
              </a:extLst>
            </p:cNvPr>
            <p:cNvSpPr/>
            <p:nvPr/>
          </p:nvSpPr>
          <p:spPr>
            <a:xfrm>
              <a:off x="3276600" y="2282415"/>
              <a:ext cx="1231900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98B5F6F-3A37-84F7-A77E-EAF396D0DB48}"/>
                </a:ext>
              </a:extLst>
            </p:cNvPr>
            <p:cNvSpPr txBox="1"/>
            <p:nvPr/>
          </p:nvSpPr>
          <p:spPr>
            <a:xfrm>
              <a:off x="3276601" y="2323710"/>
              <a:ext cx="1231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개발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5FDC2481-0761-FC19-B784-79021143AF9F}"/>
              </a:ext>
            </a:extLst>
          </p:cNvPr>
          <p:cNvGrpSpPr/>
          <p:nvPr/>
        </p:nvGrpSpPr>
        <p:grpSpPr>
          <a:xfrm>
            <a:off x="7467600" y="4686839"/>
            <a:ext cx="660710" cy="308491"/>
            <a:chOff x="4546601" y="2561815"/>
            <a:chExt cx="577849" cy="308491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D70558A6-7C85-E64C-1CAF-23D4C934A0D2}"/>
                </a:ext>
              </a:extLst>
            </p:cNvPr>
            <p:cNvSpPr/>
            <p:nvPr/>
          </p:nvSpPr>
          <p:spPr>
            <a:xfrm>
              <a:off x="4546601" y="2561815"/>
              <a:ext cx="520699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3CF1153-DE4A-C83B-973D-B8C546D9526D}"/>
                </a:ext>
              </a:extLst>
            </p:cNvPr>
            <p:cNvSpPr txBox="1"/>
            <p:nvPr/>
          </p:nvSpPr>
          <p:spPr>
            <a:xfrm>
              <a:off x="4546603" y="2603110"/>
              <a:ext cx="5778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테스트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EB92ADC-5F21-0230-EC33-6CB1C9637CBC}"/>
              </a:ext>
            </a:extLst>
          </p:cNvPr>
          <p:cNvGrpSpPr/>
          <p:nvPr/>
        </p:nvGrpSpPr>
        <p:grpSpPr>
          <a:xfrm>
            <a:off x="5048250" y="5081915"/>
            <a:ext cx="1425178" cy="308491"/>
            <a:chOff x="2362200" y="1932631"/>
            <a:chExt cx="914400" cy="308491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06877991-E4A1-2190-8B8F-F7E54DC9A38E}"/>
                </a:ext>
              </a:extLst>
            </p:cNvPr>
            <p:cNvSpPr/>
            <p:nvPr/>
          </p:nvSpPr>
          <p:spPr>
            <a:xfrm>
              <a:off x="2362200" y="1932631"/>
              <a:ext cx="914400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016A78A-73EC-9C91-DCEC-37B829D30287}"/>
                </a:ext>
              </a:extLst>
            </p:cNvPr>
            <p:cNvSpPr txBox="1"/>
            <p:nvPr/>
          </p:nvSpPr>
          <p:spPr>
            <a:xfrm>
              <a:off x="2394793" y="1973924"/>
              <a:ext cx="7937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분석</a:t>
              </a:r>
              <a:r>
                <a:rPr lang="en-US" altLang="ko-KR" sz="1000" b="1" dirty="0"/>
                <a:t>/</a:t>
              </a:r>
              <a:r>
                <a:rPr lang="ko-KR" altLang="en-US" sz="1000" b="1" dirty="0"/>
                <a:t>설계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886EF54-A65A-CA72-D59F-377D66757069}"/>
              </a:ext>
            </a:extLst>
          </p:cNvPr>
          <p:cNvGrpSpPr/>
          <p:nvPr/>
        </p:nvGrpSpPr>
        <p:grpSpPr>
          <a:xfrm>
            <a:off x="5746750" y="5426193"/>
            <a:ext cx="2705100" cy="308491"/>
            <a:chOff x="3276600" y="2282415"/>
            <a:chExt cx="1231900" cy="308491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C4BC2152-FFFA-5612-D36D-713C86E2A86C}"/>
                </a:ext>
              </a:extLst>
            </p:cNvPr>
            <p:cNvSpPr/>
            <p:nvPr/>
          </p:nvSpPr>
          <p:spPr>
            <a:xfrm>
              <a:off x="3276600" y="2282415"/>
              <a:ext cx="1231900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CEC69A5-2F5A-A658-B52F-B5324FAB0BA3}"/>
                </a:ext>
              </a:extLst>
            </p:cNvPr>
            <p:cNvSpPr txBox="1"/>
            <p:nvPr/>
          </p:nvSpPr>
          <p:spPr>
            <a:xfrm>
              <a:off x="3276601" y="2323710"/>
              <a:ext cx="1231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개발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12D004D-5F89-36F8-4A39-A04220115BDC}"/>
              </a:ext>
            </a:extLst>
          </p:cNvPr>
          <p:cNvGrpSpPr/>
          <p:nvPr/>
        </p:nvGrpSpPr>
        <p:grpSpPr>
          <a:xfrm>
            <a:off x="8108952" y="5770471"/>
            <a:ext cx="679759" cy="308491"/>
            <a:chOff x="4546601" y="2561815"/>
            <a:chExt cx="577848" cy="308491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8C99146D-8617-8A49-0099-6F024D1C6A5F}"/>
                </a:ext>
              </a:extLst>
            </p:cNvPr>
            <p:cNvSpPr/>
            <p:nvPr/>
          </p:nvSpPr>
          <p:spPr>
            <a:xfrm>
              <a:off x="4546601" y="2561815"/>
              <a:ext cx="520699" cy="308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634F93F-9DE4-D3B3-A53A-947D54E00B85}"/>
                </a:ext>
              </a:extLst>
            </p:cNvPr>
            <p:cNvSpPr txBox="1"/>
            <p:nvPr/>
          </p:nvSpPr>
          <p:spPr>
            <a:xfrm>
              <a:off x="4546602" y="2603110"/>
              <a:ext cx="5778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테스트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9D5AE3B-73E0-75C0-440D-140EC851F059}"/>
              </a:ext>
            </a:extLst>
          </p:cNvPr>
          <p:cNvGrpSpPr/>
          <p:nvPr/>
        </p:nvGrpSpPr>
        <p:grpSpPr>
          <a:xfrm>
            <a:off x="8759584" y="1955800"/>
            <a:ext cx="1210226" cy="3855966"/>
            <a:chOff x="9290050" y="1955800"/>
            <a:chExt cx="679760" cy="38559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F30BF3C4-FB55-CC32-6A0D-1A4150E511DE}"/>
                </a:ext>
              </a:extLst>
            </p:cNvPr>
            <p:cNvSpPr/>
            <p:nvPr/>
          </p:nvSpPr>
          <p:spPr>
            <a:xfrm>
              <a:off x="9290050" y="1955800"/>
              <a:ext cx="612531" cy="38559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6593136-CB63-4456-7B10-299249582761}"/>
                </a:ext>
              </a:extLst>
            </p:cNvPr>
            <p:cNvSpPr txBox="1"/>
            <p:nvPr/>
          </p:nvSpPr>
          <p:spPr>
            <a:xfrm>
              <a:off x="9290052" y="3887667"/>
              <a:ext cx="679758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000" b="1" dirty="0"/>
                <a:t>안정화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4890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4A69C62-F01F-CEBA-16A8-F16F6FD92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206" y="1405502"/>
            <a:ext cx="6501587" cy="395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57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3826</TotalTime>
  <Words>591</Words>
  <Application>Microsoft Office PowerPoint</Application>
  <PresentationFormat>와이드스크린</PresentationFormat>
  <Paragraphs>195</Paragraphs>
  <Slides>11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-apple-system</vt:lpstr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Dongjin Seo</dc:creator>
  <cp:lastModifiedBy>Dongjin Seo</cp:lastModifiedBy>
  <cp:revision>148</cp:revision>
  <dcterms:created xsi:type="dcterms:W3CDTF">2023-11-26T04:18:40Z</dcterms:created>
  <dcterms:modified xsi:type="dcterms:W3CDTF">2025-12-14T01:38:06Z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